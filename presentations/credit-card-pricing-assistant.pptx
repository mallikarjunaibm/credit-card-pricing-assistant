
<file path=[Content_Types].xml><?xml version="1.0" encoding="utf-8"?>
<Types xmlns="http://schemas.openxmlformats.org/package/2006/content-types">
  <Default Extension="xml" ContentType="application/vnd.openxmlformats-officedocument.presentationml.presentation.main+xml"/>
  <Default Extension="rels" ContentType="application/vnd.openxmlformats-package.relationships+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xml" ContentType="application/vnd.openxmlformats-officedocument.presentationml.slide+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notesMasters/theme/theme2.xml" ContentType="application/vnd.openxmlformats-officedocument.them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officeDocument/2006/relationships/officeDocument" Target="/ppt/presentation.xml" Id="R353f75bef94645bc" /><Relationship Type="http://schemas.openxmlformats.org/package/2006/relationships/metadata/core-properties" Target="/docProps/core.xml" Id="R8a06608fff87410b" /><Relationship Type="http://schemas.openxmlformats.org/officeDocument/2006/relationships/extended-properties" Target="/docProps/app.xml" Id="R04b7b276fb854554" /><Relationship Type="http://schemas.openxmlformats.org/officeDocument/2006/relationships/custom-properties" Target="/docProps/custom.xml" Id="R5e99f17162194d6e" /></Relationships>
</file>

<file path=ppt/presentation.xml><?xml version="1.0" encoding="utf-8"?>
<p:presentation xmlns:r="http://schemas.openxmlformats.org/officeDocument/2006/relationships" xmlns:p="http://schemas.openxmlformats.org/presentationml/2006/main">
  <p:sldMasterIdLst>
    <p:sldMasterId xmlns:r="http://schemas.openxmlformats.org/officeDocument/2006/relationships" id="2147483648" r:id="rId1"/>
  </p:sldMasterIdLst>
  <p:notesMasterIdLst>
    <p:notesMasterId r:id="R3905e4149f634560"/>
  </p:notesMasterIdLst>
  <p:sldIdLst>
    <p:sldId id="256" r:id="R3f78b1cf15be4411"/>
    <p:sldId id="257" r:id="R77b937ea550e49e6"/>
    <p:sldId id="258" r:id="R0d34ec48ea794520"/>
    <p:sldId id="259" r:id="R375db551a2264e15"/>
    <p:sldId id="260" r:id="R9aec98dc37d34010"/>
    <p:sldId id="261" r:id="R11b2420c8623448d"/>
    <p:sldId id="262" r:id="Rd322277f1c1f4560"/>
    <p:sldId id="263" r:id="Rbf7230cb104a46ab"/>
    <p:sldId id="264" r:id="R925adcd37034424f"/>
    <p:sldId id="265" r:id="R4ecfc0d656ec4e8a"/>
  </p:sldIdLst>
  <p:sldSz cx="12192000" cy="6858000"/>
  <p:notesSz cx="6858000" cy="9144000"/>
</p:presentation>
</file>

<file path=ppt/_rels/presentation.xml.rels>&#65279;<?xml version="1.0" encoding="utf-8"?><Relationships xmlns="http://schemas.openxmlformats.org/package/2006/relationships"><Relationship Type="http://schemas.openxmlformats.org/officeDocument/2006/relationships/slideMaster" Target="/ppt/slideMasters/slideMaster1.xml" Id="rId1" /><Relationship Type="http://schemas.openxmlformats.org/officeDocument/2006/relationships/theme" Target="/ppt/theme/theme1.xml" Id="rId2" /><Relationship Type="http://schemas.openxmlformats.org/officeDocument/2006/relationships/slide" Target="/ppt/slides/slide1.xml" Id="R3f78b1cf15be4411" /><Relationship Type="http://schemas.openxmlformats.org/officeDocument/2006/relationships/notesMaster" Target="/ppt/notesMasters/notesMaster1.xml" Id="R3905e4149f634560" /><Relationship Type="http://schemas.openxmlformats.org/officeDocument/2006/relationships/slide" Target="/ppt/slides/slide2.xml" Id="R77b937ea550e49e6" /><Relationship Type="http://schemas.openxmlformats.org/officeDocument/2006/relationships/slide" Target="/ppt/slides/slide3.xml" Id="R0d34ec48ea794520" /><Relationship Type="http://schemas.openxmlformats.org/officeDocument/2006/relationships/slide" Target="/ppt/slides/slide4.xml" Id="R375db551a2264e15" /><Relationship Type="http://schemas.openxmlformats.org/officeDocument/2006/relationships/slide" Target="/ppt/slides/slide5.xml" Id="R9aec98dc37d34010" /><Relationship Type="http://schemas.openxmlformats.org/officeDocument/2006/relationships/slide" Target="/ppt/slides/slide6.xml" Id="R11b2420c8623448d" /><Relationship Type="http://schemas.openxmlformats.org/officeDocument/2006/relationships/slide" Target="/ppt/slides/slide7.xml" Id="Rd322277f1c1f4560" /><Relationship Type="http://schemas.openxmlformats.org/officeDocument/2006/relationships/slide" Target="/ppt/slides/slide8.xml" Id="Rbf7230cb104a46ab" /><Relationship Type="http://schemas.openxmlformats.org/officeDocument/2006/relationships/slide" Target="/ppt/slides/slide9.xml" Id="R925adcd37034424f" /><Relationship Type="http://schemas.openxmlformats.org/officeDocument/2006/relationships/slide" Target="/ppt/slides/slide10.xml" Id="R4ecfc0d656ec4e8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9f9b293820d44bb8"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notesMaster" Target="/ppt/notesMasters/notesMaster1.xml" Id="Re681658c477a47db" /><Relationship Type="http://schemas.openxmlformats.org/officeDocument/2006/relationships/slide" Target="/ppt/slides/slide1.xml" Id="R393962f497a24610" /></Relationships>
</file>

<file path=ppt/notesSlides/_rels/notesSlide2.xml.rels>&#65279;<?xml version="1.0" encoding="utf-8"?><Relationships xmlns="http://schemas.openxmlformats.org/package/2006/relationships"><Relationship Type="http://schemas.openxmlformats.org/officeDocument/2006/relationships/notesMaster" Target="/ppt/notesMasters/notesMaster1.xml" Id="R2b9ffc7b2b2b493c" /><Relationship Type="http://schemas.openxmlformats.org/officeDocument/2006/relationships/slide" Target="/ppt/slides/slide2.xml" Id="R465d4f3fe62443d8" /></Relationships>
</file>

<file path=ppt/notesSlides/_rels/notesSlide3.xml.rels>&#65279;<?xml version="1.0" encoding="utf-8"?><Relationships xmlns="http://schemas.openxmlformats.org/package/2006/relationships"><Relationship Type="http://schemas.openxmlformats.org/officeDocument/2006/relationships/notesMaster" Target="/ppt/notesMasters/notesMaster1.xml" Id="R1690dd5563eb4f3e" /><Relationship Type="http://schemas.openxmlformats.org/officeDocument/2006/relationships/slide" Target="/ppt/slides/slide3.xml" Id="R9071f469be6044f5" /></Relationships>
</file>

<file path=ppt/notesSlides/_rels/notesSlide4.xml.rels>&#65279;<?xml version="1.0" encoding="utf-8"?><Relationships xmlns="http://schemas.openxmlformats.org/package/2006/relationships"><Relationship Type="http://schemas.openxmlformats.org/officeDocument/2006/relationships/notesMaster" Target="/ppt/notesMasters/notesMaster1.xml" Id="Rc773458a1ab54e94" /><Relationship Type="http://schemas.openxmlformats.org/officeDocument/2006/relationships/slide" Target="/ppt/slides/slide4.xml" Id="R1698d798bea44dac" /></Relationships>
</file>

<file path=ppt/notesSlides/_rels/notesSlide5.xml.rels>&#65279;<?xml version="1.0" encoding="utf-8"?><Relationships xmlns="http://schemas.openxmlformats.org/package/2006/relationships"><Relationship Type="http://schemas.openxmlformats.org/officeDocument/2006/relationships/notesMaster" Target="/ppt/notesMasters/notesMaster1.xml" Id="Rf5a0a527ad9340c4" /><Relationship Type="http://schemas.openxmlformats.org/officeDocument/2006/relationships/slide" Target="/ppt/slides/slide5.xml" Id="R26f4b5cc2eca47ed" /></Relationships>
</file>

<file path=ppt/notesSlides/_rels/notesSlide6.xml.rels>&#65279;<?xml version="1.0" encoding="utf-8"?><Relationships xmlns="http://schemas.openxmlformats.org/package/2006/relationships"><Relationship Type="http://schemas.openxmlformats.org/officeDocument/2006/relationships/notesMaster" Target="/ppt/notesMasters/notesMaster1.xml" Id="R601cf08024c049e8" /><Relationship Type="http://schemas.openxmlformats.org/officeDocument/2006/relationships/slide" Target="/ppt/slides/slide6.xml" Id="Rd96d97cde99d423f" /></Relationships>
</file>

<file path=ppt/notesSlides/_rels/notesSlide7.xml.rels>&#65279;<?xml version="1.0" encoding="utf-8"?><Relationships xmlns="http://schemas.openxmlformats.org/package/2006/relationships"><Relationship Type="http://schemas.openxmlformats.org/officeDocument/2006/relationships/notesMaster" Target="/ppt/notesMasters/notesMaster1.xml" Id="R405bce2c5ff347a7" /><Relationship Type="http://schemas.openxmlformats.org/officeDocument/2006/relationships/slide" Target="/ppt/slides/slide7.xml" Id="R8cf39557ea184179" /></Relationships>
</file>

<file path=ppt/notesSlides/_rels/notesSlide8.xml.rels>&#65279;<?xml version="1.0" encoding="utf-8"?><Relationships xmlns="http://schemas.openxmlformats.org/package/2006/relationships"><Relationship Type="http://schemas.openxmlformats.org/officeDocument/2006/relationships/notesMaster" Target="/ppt/notesMasters/notesMaster1.xml" Id="R3422f9dc6d1c4762" /><Relationship Type="http://schemas.openxmlformats.org/officeDocument/2006/relationships/slide" Target="/ppt/slides/slide8.xml" Id="Ref0e8d7e94bc4e5e" /></Relationships>
</file>

<file path=ppt/notesSlides/_rels/notesSlide9.xml.rels>&#65279;<?xml version="1.0" encoding="utf-8"?><Relationships xmlns="http://schemas.openxmlformats.org/package/2006/relationships"><Relationship Type="http://schemas.openxmlformats.org/officeDocument/2006/relationships/notesMaster" Target="/ppt/notesMasters/notesMaster1.xml" Id="R5e636262fb1c423c" /><Relationship Type="http://schemas.openxmlformats.org/officeDocument/2006/relationships/slide" Target="/ppt/slides/slide9.xml" Id="Rbace6e494af64c63" /></Relationships>
</file>

<file path=ppt/notesSlides/_rels/notesSlide10.xml.rels>&#65279;<?xml version="1.0" encoding="utf-8"?><Relationships xmlns="http://schemas.openxmlformats.org/package/2006/relationships"><Relationship Type="http://schemas.openxmlformats.org/officeDocument/2006/relationships/notesMaster" Target="/ppt/notesMasters/notesMaster1.xml" Id="R2b9040d1651b4cfe" /><Relationship Type="http://schemas.openxmlformats.org/officeDocument/2006/relationships/slide" Target="/ppt/slides/slide10.xml" Id="R38ba38a4aeeb493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Welcome. This deck introduces the Credit Card Pricing Assistant, a web application that helps product managers, business analysts and pricing analysts review card network pricing requirements. It uses IBM Consulting Advantage (ICA) for its conversational assistant.</a:t>
            </a:r>
          </a:p>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Card pricing requirements mix percentages, fixed fees, tiers, regions and regulation. Teams commonly miss edge cases, write rules that overlap, and struggle to explain where each fee on a payment comes from.</a:t>
            </a:r>
          </a:p>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interface was simplified into three tasks shown in the top bar: Review a requirement, Calculate fees, and Ask a question. A glossary explains terms such as interchange, basis points and MDR.</a:t>
            </a:r>
          </a:p>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browser talks to a Node.js Express server. Chat questions are sent to the IBM ICA agent together with the requirement text as context. Analysis, rule extraction and the fee calculator run on the local pricing engine. If the ICA call fails, the server falls back to built-in pricing answers so the chat keeps working.</a:t>
            </a:r>
          </a:p>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These four checks run when the user clicks Check my requirement. The results appear on one page with collapsible sections; sections that contain problems open automatically.</a:t>
            </a:r>
          </a:p>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review task scores a requirement and shows a colour-coded verdict. The sample Interchange++ requirement scores 81, with 2 missing scenarios, 1 inconsistency and 3 recommendations. Results are grouped into collapsible sections and can be exported to Markdown, Jira or JSON.</a:t>
            </a:r>
          </a:p>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calculator turns a pricing model into a concrete answer. For a $500 premium cross-border card, fees total $19.42 (3.884%), so the merchant receives $480.58. The issuer takes 59.7%, the card scheme 34.6% and the processor 5.7% of those fees. There are four presets for quick starts.</a:t>
            </a:r>
          </a:p>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chat sends questions to the IBM ICA agent through the Express server. If the call fails or exceeds 10 seconds, the built-in pricing engine answers and the reply is marked as a fallback. Be upfront: in our current testing the live ICA endpoint was not reachable, so answers came from the fallback. It needs a confirmed endpoint and API key.</a:t>
            </a:r>
          </a:p>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stack is deliberately small: Node.js, Express and axios on the server, and a plain HTML, CSS and JavaScript front end with no CDN. The API key is entered in a masked field and is not shown again. Drafts are autosaved in the browser.</a:t>
            </a:r>
          </a:p>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Three next steps. First, confirm the live ICA endpoint and key; this is the main gap today. Second, add automated tests around the pricing engine. Third, replace the sample rates with real fee schedules.</a:t>
            </a:r>
          </a:p>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e3a9c674ba34ad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d0891c2f1af413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c37a562b68348c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45e356d0715484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197fc6f156a4380" /></Relationships>
</file>

<file path=ppt/slideLayouts/slideLayout1.xml><?xml version="1.0" encoding="utf-8"?>
<p:sldLayout xmlns:p="http://schemas.openxmlformats.org/presentationml/2006/main" type="blank">
  <p:cSld name="Blank">
    <p:spTree>
      <p:nvGrpSpPr>
        <p:cNvPr id="1" name=""/>
        <p:cNvGrpSpPr/>
        <p:nvPr/>
      </p:nvGrpSpPr>
      <p:grpSpPr/>
    </p:spTree>
  </p:cSld>
</p:sldLayout>
</file>

<file path=ppt/slideLayouts/slideLayout2.xml><?xml version="1.0" encoding="utf-8"?>
<p:sldLayout xmlns:p="http://schemas.openxmlformats.org/presentationml/2006/main" type="title">
  <p:cSld name="Title Slide">
    <p:spTree>
      <p:nvGrpSpPr>
        <p:cNvPr id="1" name=""/>
        <p:cNvGrpSpPr/>
        <p:nvPr/>
      </p:nvGrpSpPr>
      <p:grpSpPr/>
      <p:sp>
        <p:nvSpPr>
          <p:cNvPr id="2" name="Title"/>
          <p:cNvSpPr>
            <a:spLocks xmlns:a="http://schemas.openxmlformats.org/drawingml/2006/main" noGrp="1"/>
          </p:cNvSpPr>
          <p:nvPr>
            <p:ph type="ctrTitle"/>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endParaRPr lang="en-US"/>
          </a:p>
        </p:txBody>
      </p:sp>
      <p:sp>
        <p:nvSpPr>
          <p:cNvPr id="3" name="Subtitle"/>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3.xml><?xml version="1.0" encoding="utf-8"?>
<p:sldLayout xmlns:p="http://schemas.openxmlformats.org/presentationml/2006/main" type="objTx">
  <p:cSld name="Title and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p:cNvSpPr>
            <a:spLocks xmlns:a="http://schemas.openxmlformats.org/drawingml/2006/main" noGrp="1"/>
          </p:cNvSpPr>
          <p:nvPr>
            <p:ph type="body" idx="1"/>
          </p:nvPr>
        </p:nvSpPr>
        <p:spPr>
          <a:xfrm xmlns:a="http://schemas.openxmlformats.org/drawingml/2006/main">
            <a:off x="838200" y="1825625"/>
            <a:ext cx="10515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4.xml><?xml version="1.0" encoding="utf-8"?>
<p:sldLayout xmlns:p="http://schemas.openxmlformats.org/presentationml/2006/main" type="twoColTx">
  <p:cSld name="Two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Left"/>
          <p:cNvSpPr>
            <a:spLocks xmlns:a="http://schemas.openxmlformats.org/drawingml/2006/main" noGrp="1"/>
          </p:cNvSpPr>
          <p:nvPr>
            <p:ph type="body"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endParaRPr lang="en-US"/>
          </a:p>
        </p:txBody>
      </p:sp>
      <p:sp>
        <p:nvSpPr>
          <p:cNvPr id="4" name="Content Right"/>
          <p:cNvSpPr>
            <a:spLocks xmlns:a="http://schemas.openxmlformats.org/drawingml/2006/main" noGrp="1"/>
          </p:cNvSpPr>
          <p:nvPr>
            <p:ph type="body"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5.xml><?xml version="1.0" encoding="utf-8"?>
<p:sldLayout xmlns:p="http://schemas.openxmlformats.org/presentationml/2006/main" type="titleOnly">
  <p:cSld name="Title Only">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Masters/_rels/slideMaster1.xml.rels>&#65279;<?xml version="1.0" encoding="utf-8"?><Relationships xmlns="http://schemas.openxmlformats.org/package/2006/relationships"><Relationship Type="http://schemas.openxmlformats.org/officeDocument/2006/relationships/slideLayout" Target="/ppt/slideLayouts/slideLayout1.xml" Id="rId1" /><Relationship Type="http://schemas.openxmlformats.org/officeDocument/2006/relationships/theme" Target="/ppt/theme/theme1.xml" Id="R85598416afe84f6d" /><Relationship Type="http://schemas.openxmlformats.org/officeDocument/2006/relationships/slideLayout" Target="/ppt/slideLayouts/slideLayout2.xml" Id="rId2" /><Relationship Type="http://schemas.openxmlformats.org/officeDocument/2006/relationships/slideLayout" Target="/ppt/slideLayouts/slideLayout3.xml" Id="rId3" /><Relationship Type="http://schemas.openxmlformats.org/officeDocument/2006/relationships/slideLayout" Target="/ppt/slideLayouts/slideLayout4.xml" Id="rId4" /><Relationship Type="http://schemas.openxmlformats.org/officeDocument/2006/relationships/slideLayout" Target="/ppt/slideLayouts/slideLayout5.xml" Id="rId5" /></Relationships>
</file>

<file path=ppt/slideMasters/slideMaster1.xml><?xml version="1.0" encoding="utf-8"?>
<p:sldMaster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Id1"/>
    <p:sldLayoutId xmlns:r="http://schemas.openxmlformats.org/officeDocument/2006/relationships" id="2147483650" r:id="rId2"/>
    <p:sldLayoutId xmlns:r="http://schemas.openxmlformats.org/officeDocument/2006/relationships" id="2147483651" r:id="rId3"/>
    <p:sldLayoutId xmlns:r="http://schemas.openxmlformats.org/officeDocument/2006/relationships" id="2147483652" r:id="rId4"/>
    <p:sldLayoutId xmlns:r="http://schemas.openxmlformats.org/officeDocument/2006/relationships" id="2147483653" r:id="rId5"/>
  </p:sldLayoutIdLst>
</p:sldMaster>
</file>

<file path=ppt/slides/_rels/slide1.xml.rels>&#65279;<?xml version="1.0" encoding="utf-8"?><Relationships xmlns="http://schemas.openxmlformats.org/package/2006/relationships"><Relationship Type="http://schemas.openxmlformats.org/officeDocument/2006/relationships/slideLayout" Target="/ppt/slideLayouts/slideLayout1.xml" Id="Rb02eae005d4a4596" /><Relationship Type="http://schemas.openxmlformats.org/officeDocument/2006/relationships/notesSlide" Target="/ppt/notesSlides/notesSlide1.xml" Id="R0d1445ac84ed42b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9a9d071317b4f85" /><Relationship Type="http://schemas.openxmlformats.org/officeDocument/2006/relationships/notesSlide" Target="/ppt/notesSlides/notesSlide2.xml" Id="R74bd973441194c3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8b3428a07914cfc" /><Relationship Type="http://schemas.openxmlformats.org/officeDocument/2006/relationships/notesSlide" Target="/ppt/notesSlides/notesSlide3.xml" Id="R53ec124e73cd475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6e225dff7f5431a" /><Relationship Type="http://schemas.openxmlformats.org/officeDocument/2006/relationships/notesSlide" Target="/ppt/notesSlides/notesSlide4.xml" Id="Ra5348a0c17494c6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5cb5b290d794dd6" /><Relationship Type="http://schemas.openxmlformats.org/officeDocument/2006/relationships/notesSlide" Target="/ppt/notesSlides/notesSlide5.xml" Id="Rea7fa57dbcb64b2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3b7571cf2304117" /><Relationship Type="http://schemas.openxmlformats.org/officeDocument/2006/relationships/notesSlide" Target="/ppt/notesSlides/notesSlide6.xml" Id="R50f90c40e866403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c5918831ec44679" /><Relationship Type="http://schemas.openxmlformats.org/officeDocument/2006/relationships/notesSlide" Target="/ppt/notesSlides/notesSlide7.xml" Id="Rf5f833f29d4345a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565f46fd17f48b3" /><Relationship Type="http://schemas.openxmlformats.org/officeDocument/2006/relationships/notesSlide" Target="/ppt/notesSlides/notesSlide8.xml" Id="R70b28fe4df18487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b5222e6c14743d9" /><Relationship Type="http://schemas.openxmlformats.org/officeDocument/2006/relationships/notesSlide" Target="/ppt/notesSlides/notesSlide9.xml" Id="Rab40e9c4940a4e6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907c4a840484a0e" /><Relationship Type="http://schemas.openxmlformats.org/officeDocument/2006/relationships/notesSlide" Target="/ppt/notesSlides/notesSlide10.xml" Id="R24c9e112c15a4fa7" /></Relationships>
</file>

<file path=ppt/slides/slide1.xml><?xml version="1.0" encoding="utf-8"?>
<p:sld xmlns:a="http://schemas.openxmlformats.org/drawingml/2006/main" xmlns:p="http://schemas.openxmlformats.org/presentationml/2006/main">
  <p:cSld>
    <p:bg>
      <p:bgPr>
        <a:solidFill xmlns:a="http://schemas.openxmlformats.org/drawingml/2006/main">
          <a:srgbClr val="0B1F4B"/>
        </a:solidFill>
      </p:bgPr>
    </p:bg>
    <p:spTree>
      <p:nvGrpSpPr>
        <p:cNvPr id="1" name=""/>
        <p:cNvGrpSpPr/>
        <p:nvPr/>
      </p:nvGrpSpPr>
      <p:grpSpPr/>
      <p:sp>
        <p:nvSpPr>
          <p:cNvPr id="100000" name="Accent"/>
          <p:cNvSpPr/>
          <p:nvPr/>
        </p:nvSpPr>
        <p:spPr>
          <a:xfrm>
            <a:off x="812800" y="1905000"/>
            <a:ext cx="1143000" cy="76200"/>
          </a:xfrm>
          <a:prstGeom prst="rect">
            <a:avLst/>
          </a:prstGeom>
          <a:solidFill>
            <a:srgbClr val="0F62FE"/>
          </a:solidFill>
        </p:spPr>
        <p:txBody>
          <a:bodyPr/>
          <a:lstStyle/>
          <a:p/>
        </p:txBody>
      </p:sp>
      <p:sp>
        <p:nvSpPr>
          <p:cNvPr id="100001" name="Eyebrow"/>
          <p:cNvSpPr txBox="1"/>
          <p:nvPr/>
        </p:nvSpPr>
        <p:spPr>
          <a:xfrm>
            <a:off x="812800" y="2159000"/>
            <a:ext cx="10160000" cy="381000"/>
          </a:xfrm>
          <a:prstGeom prst="rect">
            <a:avLst/>
          </a:prstGeom>
          <a:noFill/>
        </p:spPr>
        <p:txBody>
          <a:bodyPr/>
          <a:lstStyle/>
          <a:p>
            <a:r>
              <a:rPr lang="en-US" sz="1600" b="1">
                <a:solidFill>
                  <a:srgbClr val="78A9FF"/>
                </a:solidFill>
              </a:rPr>
              <a:t>IBM CONSULTING ADVANTAGE (ICA)</a:t>
            </a:r>
          </a:p>
        </p:txBody>
      </p:sp>
      <p:sp>
        <p:nvSpPr>
          <p:cNvPr id="100002" name="Title"/>
          <p:cNvSpPr txBox="1"/>
          <p:nvPr/>
        </p:nvSpPr>
        <p:spPr>
          <a:xfrm>
            <a:off x="812800" y="2603500"/>
            <a:ext cx="10668000" cy="1016000"/>
          </a:xfrm>
          <a:prstGeom prst="rect">
            <a:avLst/>
          </a:prstGeom>
          <a:noFill/>
        </p:spPr>
        <p:txBody>
          <a:bodyPr/>
          <a:lstStyle/>
          <a:p>
            <a:r>
              <a:rPr lang="en-US" sz="5200" b="1">
                <a:solidFill>
                  <a:srgbClr val="FFFFFF"/>
                </a:solidFill>
              </a:rPr>
              <a:t>Credit Card Pricing Assistant</a:t>
            </a:r>
          </a:p>
        </p:txBody>
      </p:sp>
      <p:sp>
        <p:nvSpPr>
          <p:cNvPr id="100003" name="Subtitle"/>
          <p:cNvSpPr txBox="1"/>
          <p:nvPr/>
        </p:nvSpPr>
        <p:spPr>
          <a:xfrm>
            <a:off x="812800" y="3683000"/>
            <a:ext cx="10668000" cy="508000"/>
          </a:xfrm>
          <a:prstGeom prst="rect">
            <a:avLst/>
          </a:prstGeom>
          <a:noFill/>
        </p:spPr>
        <p:txBody>
          <a:bodyPr/>
          <a:lstStyle/>
          <a:p>
            <a:r>
              <a:rPr lang="en-US" sz="2400">
                <a:solidFill>
                  <a:srgbClr val="C6D4F0"/>
                </a:solidFill>
              </a:rPr>
              <a:t>Review card network pricing requirements faster, with fewer gaps</a:t>
            </a:r>
          </a:p>
        </p:txBody>
      </p:sp>
      <p:sp>
        <p:nvSpPr>
          <p:cNvPr id="100004" name="Footer"/>
          <p:cNvSpPr txBox="1"/>
          <p:nvPr/>
        </p:nvSpPr>
        <p:spPr>
          <a:xfrm>
            <a:off x="812800" y="5588000"/>
            <a:ext cx="10668000" cy="381000"/>
          </a:xfrm>
          <a:prstGeom prst="rect">
            <a:avLst/>
          </a:prstGeom>
          <a:noFill/>
        </p:spPr>
        <p:txBody>
          <a:bodyPr/>
          <a:lstStyle/>
          <a:p>
            <a:r>
              <a:rPr lang="en-US" sz="1600">
                <a:solidFill>
                  <a:srgbClr val="8FA3C7"/>
                </a:solidFill>
              </a:rPr>
              <a:t>Interchange  |  Network fees  |  Merchant discount rates</a:t>
            </a:r>
          </a:p>
        </p:txBody>
      </p:sp>
    </p:spTree>
  </p:cSld>
</p:sld>
</file>

<file path=ppt/slides/slide2.xml><?xml version="1.0" encoding="utf-8"?>
<p:sld xmlns:p="http://schemas.openxmlformats.org/presentationml/2006/main">
  <p:cSld>
    <p:bg>
      <p:bgPr>
        <a:solidFill xmlns:a="http://schemas.openxmlformats.org/drawingml/2006/main">
          <a:srgbClr val="F4F6F9"/>
        </a:solidFill>
      </p:bgPr>
    </p:bg>
    <p:spTree>
      <p:nvGrpSpPr>
        <p:cNvPr id="1" name=""/>
        <p:cNvGrpSpPr/>
        <p:nvPr/>
      </p:nvGrpSpPr>
      <p:grpSpPr/>
      <p:sp>
        <p:nvSpPr>
          <p:cNvPr id="100005" name="Title"/>
          <p:cNvSpPr txBox="1"/>
          <p:nvPr/>
        </p:nvSpPr>
        <p:spPr>
          <a:xfrm xmlns:a="http://schemas.openxmlformats.org/drawingml/2006/main">
            <a:off x="609600" y="355600"/>
            <a:ext cx="10972800" cy="76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600" b="1">
                <a:solidFill>
                  <a:srgbClr val="0B1F4B"/>
                </a:solidFill>
              </a:rPr>
              <a:t>Pricing requirements are hard to get right</a:t>
            </a:r>
          </a:p>
        </p:txBody>
      </p:sp>
      <p:sp>
        <p:nvSpPr>
          <p:cNvPr id="100006" name="Accent"/>
          <p:cNvSpPr/>
          <p:nvPr/>
        </p:nvSpPr>
        <p:spPr>
          <a:xfrm xmlns:a="http://schemas.openxmlformats.org/drawingml/2006/main">
            <a:off x="609600" y="1168400"/>
            <a:ext cx="812800" cy="635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p:txBody>
      </p:sp>
      <p:sp>
        <p:nvSpPr>
          <p:cNvPr id="100007" name="Card1"/>
          <p:cNvSpPr/>
          <p:nvPr/>
        </p:nvSpPr>
        <p:spPr>
          <a:xfrm xmlns:a="http://schemas.openxmlformats.org/drawingml/2006/main">
            <a:off x="609600" y="1651000"/>
            <a:ext cx="3454400" cy="3810000"/>
          </a:xfrm>
          <a:prstGeom xmlns:a="http://schemas.openxmlformats.org/drawingml/2006/main" prst="rect">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100008" name="Card1Bar"/>
          <p:cNvSpPr/>
          <p:nvPr/>
        </p:nvSpPr>
        <p:spPr>
          <a:xfrm xmlns:a="http://schemas.openxmlformats.org/drawingml/2006/main">
            <a:off x="609600" y="1651000"/>
            <a:ext cx="3454400" cy="762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p:txBody>
      </p:sp>
      <p:sp>
        <p:nvSpPr>
          <p:cNvPr id="100009" name="Card1Head"/>
          <p:cNvSpPr txBox="1"/>
          <p:nvPr/>
        </p:nvSpPr>
        <p:spPr>
          <a:xfrm xmlns:a="http://schemas.openxmlformats.org/drawingml/2006/main">
            <a:off x="812800" y="1930400"/>
            <a:ext cx="3048000" cy="635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400" b="1">
                <a:solidFill>
                  <a:srgbClr val="0B1F4B"/>
                </a:solidFill>
              </a:rPr>
              <a:t>Gaps go unnoticed</a:t>
            </a:r>
          </a:p>
        </p:txBody>
      </p:sp>
      <p:sp>
        <p:nvSpPr>
          <p:cNvPr id="100010" name="Card1Body"/>
          <p:cNvSpPr txBox="1"/>
          <p:nvPr/>
        </p:nvSpPr>
        <p:spPr>
          <a:xfrm xmlns:a="http://schemas.openxmlformats.org/drawingml/2006/main">
            <a:off x="812800" y="2692400"/>
            <a:ext cx="3048000" cy="254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800">
                <a:solidFill>
                  <a:srgbClr val="3B4556"/>
                </a:solidFill>
              </a:rPr>
              <a:t>Refunds, chargebacks, rounding and tax cases are often missing from acceptance criteria.</a:t>
            </a:r>
          </a:p>
        </p:txBody>
      </p:sp>
      <p:sp>
        <p:nvSpPr>
          <p:cNvPr id="100011" name="Card2"/>
          <p:cNvSpPr/>
          <p:nvPr/>
        </p:nvSpPr>
        <p:spPr>
          <a:xfrm xmlns:a="http://schemas.openxmlformats.org/drawingml/2006/main">
            <a:off x="4368800" y="1651000"/>
            <a:ext cx="3454400" cy="3810000"/>
          </a:xfrm>
          <a:prstGeom xmlns:a="http://schemas.openxmlformats.org/drawingml/2006/main" prst="rect">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100012" name="Card2Bar"/>
          <p:cNvSpPr/>
          <p:nvPr/>
        </p:nvSpPr>
        <p:spPr>
          <a:xfrm xmlns:a="http://schemas.openxmlformats.org/drawingml/2006/main">
            <a:off x="4368800" y="1651000"/>
            <a:ext cx="3454400" cy="76200"/>
          </a:xfrm>
          <a:prstGeom xmlns:a="http://schemas.openxmlformats.org/drawingml/2006/main" prst="rect">
            <a:avLst/>
          </a:prstGeom>
          <a:solidFill xmlns:a="http://schemas.openxmlformats.org/drawingml/2006/main">
            <a:srgbClr val="8A3FFC"/>
          </a:solidFill>
        </p:spPr>
        <p:txBody>
          <a:bodyPr xmlns:a="http://schemas.openxmlformats.org/drawingml/2006/main"/>
          <a:lstStyle xmlns:a="http://schemas.openxmlformats.org/drawingml/2006/main"/>
          <a:p xmlns:a="http://schemas.openxmlformats.org/drawingml/2006/main"/>
        </p:txBody>
      </p:sp>
      <p:sp>
        <p:nvSpPr>
          <p:cNvPr id="100013" name="Card2Head"/>
          <p:cNvSpPr txBox="1"/>
          <p:nvPr/>
        </p:nvSpPr>
        <p:spPr>
          <a:xfrm xmlns:a="http://schemas.openxmlformats.org/drawingml/2006/main">
            <a:off x="4572000" y="1930400"/>
            <a:ext cx="3048000" cy="635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400" b="1">
                <a:solidFill>
                  <a:srgbClr val="0B1F4B"/>
                </a:solidFill>
              </a:rPr>
              <a:t>Rules conflict</a:t>
            </a:r>
          </a:p>
        </p:txBody>
      </p:sp>
      <p:sp>
        <p:nvSpPr>
          <p:cNvPr id="100014" name="Card2Body"/>
          <p:cNvSpPr txBox="1"/>
          <p:nvPr/>
        </p:nvSpPr>
        <p:spPr>
          <a:xfrm xmlns:a="http://schemas.openxmlformats.org/drawingml/2006/main">
            <a:off x="4572000" y="2692400"/>
            <a:ext cx="3048000" cy="254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800">
                <a:solidFill>
                  <a:srgbClr val="3B4556"/>
                </a:solidFill>
              </a:rPr>
              <a:t>Overlapping volume tiers and debit caps lead to rework late in delivery.</a:t>
            </a:r>
          </a:p>
        </p:txBody>
      </p:sp>
      <p:sp>
        <p:nvSpPr>
          <p:cNvPr id="100015" name="Card3"/>
          <p:cNvSpPr/>
          <p:nvPr/>
        </p:nvSpPr>
        <p:spPr>
          <a:xfrm xmlns:a="http://schemas.openxmlformats.org/drawingml/2006/main">
            <a:off x="8128000" y="1651000"/>
            <a:ext cx="3454400" cy="3810000"/>
          </a:xfrm>
          <a:prstGeom xmlns:a="http://schemas.openxmlformats.org/drawingml/2006/main" prst="rect">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100016" name="Card3Bar"/>
          <p:cNvSpPr/>
          <p:nvPr/>
        </p:nvSpPr>
        <p:spPr>
          <a:xfrm xmlns:a="http://schemas.openxmlformats.org/drawingml/2006/main">
            <a:off x="8128000" y="1651000"/>
            <a:ext cx="3454400" cy="76200"/>
          </a:xfrm>
          <a:prstGeom xmlns:a="http://schemas.openxmlformats.org/drawingml/2006/main" prst="rect">
            <a:avLst/>
          </a:prstGeom>
          <a:solidFill xmlns:a="http://schemas.openxmlformats.org/drawingml/2006/main">
            <a:srgbClr val="198038"/>
          </a:solidFill>
        </p:spPr>
        <p:txBody>
          <a:bodyPr xmlns:a="http://schemas.openxmlformats.org/drawingml/2006/main"/>
          <a:lstStyle xmlns:a="http://schemas.openxmlformats.org/drawingml/2006/main"/>
          <a:p xmlns:a="http://schemas.openxmlformats.org/drawingml/2006/main"/>
        </p:txBody>
      </p:sp>
      <p:sp>
        <p:nvSpPr>
          <p:cNvPr id="100017" name="Card3Head"/>
          <p:cNvSpPr txBox="1"/>
          <p:nvPr/>
        </p:nvSpPr>
        <p:spPr>
          <a:xfrm xmlns:a="http://schemas.openxmlformats.org/drawingml/2006/main">
            <a:off x="8331200" y="1930400"/>
            <a:ext cx="3048000" cy="635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400" b="1">
                <a:solidFill>
                  <a:srgbClr val="0B1F4B"/>
                </a:solidFill>
              </a:rPr>
              <a:t>Fees are opaque</a:t>
            </a:r>
          </a:p>
        </p:txBody>
      </p:sp>
      <p:sp>
        <p:nvSpPr>
          <p:cNvPr id="100018" name="Card3Body"/>
          <p:cNvSpPr txBox="1"/>
          <p:nvPr/>
        </p:nvSpPr>
        <p:spPr>
          <a:xfrm xmlns:a="http://schemas.openxmlformats.org/drawingml/2006/main">
            <a:off x="8331200" y="2692400"/>
            <a:ext cx="3048000" cy="254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800">
                <a:solidFill>
                  <a:srgbClr val="3B4556"/>
                </a:solidFill>
              </a:rPr>
              <a:t>Interchange, network fees and processor markup are hard to trace on a single payment.</a:t>
            </a:r>
          </a:p>
        </p:txBody>
      </p:sp>
    </p:spTree>
  </p:cSld>
</p:sld>
</file>

<file path=ppt/slides/slide3.xml><?xml version="1.0" encoding="utf-8"?>
<p:sld xmlns:p="http://schemas.openxmlformats.org/presentationml/2006/main">
  <p:cSld>
    <p:bg>
      <p:bgPr>
        <a:solidFill xmlns:a="http://schemas.openxmlformats.org/drawingml/2006/main">
          <a:srgbClr val="F4F6F9"/>
        </a:solidFill>
      </p:bgPr>
    </p:bg>
    <p:spTree>
      <p:nvGrpSpPr>
        <p:cNvPr id="1" name=""/>
        <p:cNvGrpSpPr/>
        <p:nvPr/>
      </p:nvGrpSpPr>
      <p:grpSpPr/>
      <p:sp>
        <p:nvSpPr>
          <p:cNvPr id="100019" name="Title"/>
          <p:cNvSpPr txBox="1"/>
          <p:nvPr/>
        </p:nvSpPr>
        <p:spPr>
          <a:xfrm xmlns:a="http://schemas.openxmlformats.org/drawingml/2006/main">
            <a:off x="609600" y="355600"/>
            <a:ext cx="10972800" cy="76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600" b="1">
                <a:solidFill>
                  <a:srgbClr val="0B1F4B"/>
                </a:solidFill>
              </a:rPr>
              <a:t>One assistant, three simple tasks</a:t>
            </a:r>
          </a:p>
        </p:txBody>
      </p:sp>
      <p:sp>
        <p:nvSpPr>
          <p:cNvPr id="100020" name="Accent"/>
          <p:cNvSpPr/>
          <p:nvPr/>
        </p:nvSpPr>
        <p:spPr>
          <a:xfrm xmlns:a="http://schemas.openxmlformats.org/drawingml/2006/main">
            <a:off x="609600" y="1168400"/>
            <a:ext cx="812800" cy="635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p:txBody>
      </p:sp>
      <p:sp>
        <p:nvSpPr>
          <p:cNvPr id="100021" name="Card1"/>
          <p:cNvSpPr/>
          <p:nvPr/>
        </p:nvSpPr>
        <p:spPr>
          <a:xfrm xmlns:a="http://schemas.openxmlformats.org/drawingml/2006/main">
            <a:off x="609600" y="1651000"/>
            <a:ext cx="3454400" cy="3810000"/>
          </a:xfrm>
          <a:prstGeom xmlns:a="http://schemas.openxmlformats.org/drawingml/2006/main" prst="rect">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100022" name="Num1"/>
          <p:cNvSpPr txBox="1"/>
          <p:nvPr/>
        </p:nvSpPr>
        <p:spPr>
          <a:xfrm xmlns:a="http://schemas.openxmlformats.org/drawingml/2006/main">
            <a:off x="812800" y="1854200"/>
            <a:ext cx="762000" cy="889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4800" b="1">
                <a:solidFill>
                  <a:srgbClr val="0F62FE"/>
                </a:solidFill>
              </a:rPr>
              <a:t>1</a:t>
            </a:r>
          </a:p>
        </p:txBody>
      </p:sp>
      <p:sp>
        <p:nvSpPr>
          <p:cNvPr id="100023" name="Head1"/>
          <p:cNvSpPr txBox="1"/>
          <p:nvPr/>
        </p:nvSpPr>
        <p:spPr>
          <a:xfrm xmlns:a="http://schemas.openxmlformats.org/drawingml/2006/main">
            <a:off x="812800" y="2794000"/>
            <a:ext cx="3048000" cy="50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200" b="1">
                <a:solidFill>
                  <a:srgbClr val="0B1F4B"/>
                </a:solidFill>
              </a:rPr>
              <a:t>Review a requirement</a:t>
            </a:r>
          </a:p>
        </p:txBody>
      </p:sp>
      <p:sp>
        <p:nvSpPr>
          <p:cNvPr id="100024" name="Body1"/>
          <p:cNvSpPr txBox="1"/>
          <p:nvPr/>
        </p:nvSpPr>
        <p:spPr>
          <a:xfrm xmlns:a="http://schemas.openxmlformats.org/drawingml/2006/main">
            <a:off x="812800" y="3378200"/>
            <a:ext cx="3048000" cy="1905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800">
                <a:solidFill>
                  <a:srgbClr val="3B4556"/>
                </a:solidFill>
              </a:rPr>
              <a:t>Paste text and get a score, gaps, conflicts and how to fix them.</a:t>
            </a:r>
          </a:p>
        </p:txBody>
      </p:sp>
      <p:sp>
        <p:nvSpPr>
          <p:cNvPr id="100025" name="Card2"/>
          <p:cNvSpPr/>
          <p:nvPr/>
        </p:nvSpPr>
        <p:spPr>
          <a:xfrm xmlns:a="http://schemas.openxmlformats.org/drawingml/2006/main">
            <a:off x="4368800" y="1651000"/>
            <a:ext cx="3454400" cy="3810000"/>
          </a:xfrm>
          <a:prstGeom xmlns:a="http://schemas.openxmlformats.org/drawingml/2006/main" prst="rect">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100026" name="Num2"/>
          <p:cNvSpPr txBox="1"/>
          <p:nvPr/>
        </p:nvSpPr>
        <p:spPr>
          <a:xfrm xmlns:a="http://schemas.openxmlformats.org/drawingml/2006/main">
            <a:off x="4572000" y="1854200"/>
            <a:ext cx="762000" cy="889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4800" b="1">
                <a:solidFill>
                  <a:srgbClr val="8A3FFC"/>
                </a:solidFill>
              </a:rPr>
              <a:t>2</a:t>
            </a:r>
          </a:p>
        </p:txBody>
      </p:sp>
      <p:sp>
        <p:nvSpPr>
          <p:cNvPr id="100027" name="Head2"/>
          <p:cNvSpPr txBox="1"/>
          <p:nvPr/>
        </p:nvSpPr>
        <p:spPr>
          <a:xfrm xmlns:a="http://schemas.openxmlformats.org/drawingml/2006/main">
            <a:off x="4572000" y="2794000"/>
            <a:ext cx="3048000" cy="50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200" b="1">
                <a:solidFill>
                  <a:srgbClr val="0B1F4B"/>
                </a:solidFill>
              </a:rPr>
              <a:t>Calculate fees</a:t>
            </a:r>
          </a:p>
        </p:txBody>
      </p:sp>
      <p:sp>
        <p:nvSpPr>
          <p:cNvPr id="100028" name="Body2"/>
          <p:cNvSpPr txBox="1"/>
          <p:nvPr/>
        </p:nvSpPr>
        <p:spPr>
          <a:xfrm xmlns:a="http://schemas.openxmlformats.org/drawingml/2006/main">
            <a:off x="4572000" y="3378200"/>
            <a:ext cx="3048000" cy="1905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800">
                <a:solidFill>
                  <a:srgbClr val="3B4556"/>
                </a:solidFill>
              </a:rPr>
              <a:t>See where the money goes on any card payment, in plain language.</a:t>
            </a:r>
          </a:p>
        </p:txBody>
      </p:sp>
      <p:sp>
        <p:nvSpPr>
          <p:cNvPr id="100029" name="Card3"/>
          <p:cNvSpPr/>
          <p:nvPr/>
        </p:nvSpPr>
        <p:spPr>
          <a:xfrm xmlns:a="http://schemas.openxmlformats.org/drawingml/2006/main">
            <a:off x="8128000" y="1651000"/>
            <a:ext cx="3454400" cy="3810000"/>
          </a:xfrm>
          <a:prstGeom xmlns:a="http://schemas.openxmlformats.org/drawingml/2006/main" prst="rect">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100030" name="Num3"/>
          <p:cNvSpPr txBox="1"/>
          <p:nvPr/>
        </p:nvSpPr>
        <p:spPr>
          <a:xfrm xmlns:a="http://schemas.openxmlformats.org/drawingml/2006/main">
            <a:off x="8331200" y="1854200"/>
            <a:ext cx="762000" cy="889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4800" b="1">
                <a:solidFill>
                  <a:srgbClr val="198038"/>
                </a:solidFill>
              </a:rPr>
              <a:t>3</a:t>
            </a:r>
          </a:p>
        </p:txBody>
      </p:sp>
      <p:sp>
        <p:nvSpPr>
          <p:cNvPr id="100031" name="Head3"/>
          <p:cNvSpPr txBox="1"/>
          <p:nvPr/>
        </p:nvSpPr>
        <p:spPr>
          <a:xfrm xmlns:a="http://schemas.openxmlformats.org/drawingml/2006/main">
            <a:off x="8331200" y="2794000"/>
            <a:ext cx="3048000" cy="50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200" b="1">
                <a:solidFill>
                  <a:srgbClr val="0B1F4B"/>
                </a:solidFill>
              </a:rPr>
              <a:t>Ask a question</a:t>
            </a:r>
          </a:p>
        </p:txBody>
      </p:sp>
      <p:sp>
        <p:nvSpPr>
          <p:cNvPr id="100032" name="Body3"/>
          <p:cNvSpPr txBox="1"/>
          <p:nvPr/>
        </p:nvSpPr>
        <p:spPr>
          <a:xfrm xmlns:a="http://schemas.openxmlformats.org/drawingml/2006/main">
            <a:off x="8331200" y="3378200"/>
            <a:ext cx="3048000" cy="1905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800">
                <a:solidFill>
                  <a:srgbClr val="3B4556"/>
                </a:solidFill>
              </a:rPr>
              <a:t>Chat with an assistant connected to IBM ICA, using your requirement as context.</a:t>
            </a:r>
          </a:p>
        </p:txBody>
      </p:sp>
    </p:spTree>
  </p:cSld>
</p:sld>
</file>

<file path=ppt/slides/slide4.xml><?xml version="1.0" encoding="utf-8"?>
<p:sld xmlns:p="http://schemas.openxmlformats.org/presentationml/2006/main">
  <p:cSld>
    <p:bg>
      <p:bgPr>
        <a:solidFill xmlns:a="http://schemas.openxmlformats.org/drawingml/2006/main">
          <a:srgbClr val="F4F6F9"/>
        </a:solidFill>
      </p:bgPr>
    </p:bg>
    <p:spTree>
      <p:nvGrpSpPr>
        <p:cNvPr id="1" name=""/>
        <p:cNvGrpSpPr/>
        <p:nvPr/>
      </p:nvGrpSpPr>
      <p:grpSpPr/>
      <p:sp>
        <p:nvSpPr>
          <p:cNvPr id="100033" name="Title"/>
          <p:cNvSpPr txBox="1"/>
          <p:nvPr/>
        </p:nvSpPr>
        <p:spPr>
          <a:xfrm xmlns:a="http://schemas.openxmlformats.org/drawingml/2006/main">
            <a:off x="609600" y="355600"/>
            <a:ext cx="10972800" cy="76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600" b="1">
                <a:solidFill>
                  <a:srgbClr val="0B1F4B"/>
                </a:solidFill>
              </a:rPr>
              <a:t>How IBM ICA fits in</a:t>
            </a:r>
          </a:p>
        </p:txBody>
      </p:sp>
      <p:sp>
        <p:nvSpPr>
          <p:cNvPr id="100034" name="Accent"/>
          <p:cNvSpPr/>
          <p:nvPr/>
        </p:nvSpPr>
        <p:spPr>
          <a:xfrm xmlns:a="http://schemas.openxmlformats.org/drawingml/2006/main">
            <a:off x="609600" y="1168400"/>
            <a:ext cx="812800" cy="635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p:txBody>
      </p:sp>
      <p:sp>
        <p:nvSpPr>
          <p:cNvPr id="100035" name="BoxUI"/>
          <p:cNvSpPr txBox="1"/>
          <p:nvPr/>
        </p:nvSpPr>
        <p:spPr>
          <a:xfrm xmlns:a="http://schemas.openxmlformats.org/drawingml/2006/main">
            <a:off x="609600" y="2413000"/>
            <a:ext cx="2667000" cy="1524000"/>
          </a:xfrm>
          <a:prstGeom xmlns:a="http://schemas.openxmlformats.org/drawingml/2006/main" prst="rect">
            <a:avLst/>
          </a:prstGeom>
          <a:solidFill xmlns:a="http://schemas.openxmlformats.org/drawingml/2006/main">
            <a:srgbClr val="0B1F4B"/>
          </a:solidFill>
        </p:spPr>
        <p:txBody>
          <a:bodyPr xmlns:a="http://schemas.openxmlformats.org/drawingml/2006/main"/>
          <a:lstStyle xmlns:a="http://schemas.openxmlformats.org/drawingml/2006/main"/>
          <a:p xmlns:a="http://schemas.openxmlformats.org/drawingml/2006/main">
            <a:r>
              <a:rPr lang="en-US" sz="2000" b="1">
                <a:solidFill>
                  <a:srgbClr val="FFFFFF"/>
                </a:solidFill>
              </a:rPr>
              <a:t>Web app</a:t>
            </a:r>
          </a:p>
          <a:p xmlns:a="http://schemas.openxmlformats.org/drawingml/2006/main">
            <a:r>
              <a:rPr lang="en-US" sz="2000" b="1">
                <a:solidFill>
                  <a:srgbClr val="FFFFFF"/>
                </a:solidFill>
              </a:rPr>
              <a:t>Review, Calculate, Ask</a:t>
            </a:r>
          </a:p>
        </p:txBody>
      </p:sp>
      <p:sp>
        <p:nvSpPr>
          <p:cNvPr id="100036" name="Arrow1"/>
          <p:cNvSpPr txBox="1"/>
          <p:nvPr/>
        </p:nvSpPr>
        <p:spPr>
          <a:xfrm xmlns:a="http://schemas.openxmlformats.org/drawingml/2006/main">
            <a:off x="3327400" y="2730500"/>
            <a:ext cx="508000" cy="889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4400" b="1">
                <a:solidFill>
                  <a:srgbClr val="0F62FE"/>
                </a:solidFill>
              </a:rPr>
              <a:t>&gt;</a:t>
            </a:r>
          </a:p>
        </p:txBody>
      </p:sp>
      <p:sp>
        <p:nvSpPr>
          <p:cNvPr id="100037" name="BoxServer"/>
          <p:cNvSpPr txBox="1"/>
          <p:nvPr/>
        </p:nvSpPr>
        <p:spPr>
          <a:xfrm xmlns:a="http://schemas.openxmlformats.org/drawingml/2006/main">
            <a:off x="3886200" y="2413000"/>
            <a:ext cx="2667000" cy="1524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2000" b="1">
                <a:solidFill>
                  <a:srgbClr val="FFFFFF"/>
                </a:solidFill>
              </a:rPr>
              <a:t>Express server</a:t>
            </a:r>
          </a:p>
          <a:p xmlns:a="http://schemas.openxmlformats.org/drawingml/2006/main">
            <a:r>
              <a:rPr lang="en-US" sz="2000" b="1">
                <a:solidFill>
                  <a:srgbClr val="FFFFFF"/>
                </a:solidFill>
              </a:rPr>
              <a:t>REST API</a:t>
            </a:r>
          </a:p>
        </p:txBody>
      </p:sp>
      <p:sp>
        <p:nvSpPr>
          <p:cNvPr id="100038" name="Arrow2"/>
          <p:cNvSpPr txBox="1"/>
          <p:nvPr/>
        </p:nvSpPr>
        <p:spPr>
          <a:xfrm xmlns:a="http://schemas.openxmlformats.org/drawingml/2006/main">
            <a:off x="6604000" y="2730500"/>
            <a:ext cx="508000" cy="889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4400" b="1">
                <a:solidFill>
                  <a:srgbClr val="0F62FE"/>
                </a:solidFill>
              </a:rPr>
              <a:t>&gt;</a:t>
            </a:r>
          </a:p>
        </p:txBody>
      </p:sp>
      <p:sp>
        <p:nvSpPr>
          <p:cNvPr id="100039" name="BoxICA"/>
          <p:cNvSpPr txBox="1"/>
          <p:nvPr/>
        </p:nvSpPr>
        <p:spPr>
          <a:xfrm xmlns:a="http://schemas.openxmlformats.org/drawingml/2006/main">
            <a:off x="7162800" y="1651000"/>
            <a:ext cx="4419600" cy="1397000"/>
          </a:xfrm>
          <a:prstGeom xmlns:a="http://schemas.openxmlformats.org/drawingml/2006/main" prst="rect">
            <a:avLst/>
          </a:prstGeom>
          <a:solidFill xmlns:a="http://schemas.openxmlformats.org/drawingml/2006/main">
            <a:srgbClr val="8A3FFC"/>
          </a:solidFill>
        </p:spPr>
        <p:txBody>
          <a:bodyPr xmlns:a="http://schemas.openxmlformats.org/drawingml/2006/main"/>
          <a:lstStyle xmlns:a="http://schemas.openxmlformats.org/drawingml/2006/main"/>
          <a:p xmlns:a="http://schemas.openxmlformats.org/drawingml/2006/main">
            <a:r>
              <a:rPr lang="en-US" sz="2000" b="1">
                <a:solidFill>
                  <a:srgbClr val="FFFFFF"/>
                </a:solidFill>
              </a:rPr>
              <a:t>IBM ICA agent</a:t>
            </a:r>
          </a:p>
          <a:p xmlns:a="http://schemas.openxmlformats.org/drawingml/2006/main">
            <a:r>
              <a:rPr lang="en-US" sz="2000" b="1">
                <a:solidFill>
                  <a:srgbClr val="FFFFFF"/>
                </a:solidFill>
              </a:rPr>
              <a:t>Conversational answers</a:t>
            </a:r>
          </a:p>
        </p:txBody>
      </p:sp>
      <p:sp>
        <p:nvSpPr>
          <p:cNvPr id="100040" name="BoxEngine"/>
          <p:cNvSpPr txBox="1"/>
          <p:nvPr/>
        </p:nvSpPr>
        <p:spPr>
          <a:xfrm xmlns:a="http://schemas.openxmlformats.org/drawingml/2006/main">
            <a:off x="7162800" y="3302000"/>
            <a:ext cx="4419600" cy="1397000"/>
          </a:xfrm>
          <a:prstGeom xmlns:a="http://schemas.openxmlformats.org/drawingml/2006/main" prst="rect">
            <a:avLst/>
          </a:prstGeom>
          <a:solidFill xmlns:a="http://schemas.openxmlformats.org/drawingml/2006/main">
            <a:srgbClr val="198038"/>
          </a:solidFill>
        </p:spPr>
        <p:txBody>
          <a:bodyPr xmlns:a="http://schemas.openxmlformats.org/drawingml/2006/main"/>
          <a:lstStyle xmlns:a="http://schemas.openxmlformats.org/drawingml/2006/main"/>
          <a:p xmlns:a="http://schemas.openxmlformats.org/drawingml/2006/main">
            <a:r>
              <a:rPr lang="en-US" sz="2000" b="1">
                <a:solidFill>
                  <a:srgbClr val="FFFFFF"/>
                </a:solidFill>
              </a:rPr>
              <a:t>Pricing engine</a:t>
            </a:r>
          </a:p>
          <a:p xmlns:a="http://schemas.openxmlformats.org/drawingml/2006/main">
            <a:r>
              <a:rPr lang="en-US" sz="2000" b="1">
                <a:solidFill>
                  <a:srgbClr val="FFFFFF"/>
                </a:solidFill>
              </a:rPr>
              <a:t>Analysis, rules, fee calculator</a:t>
            </a:r>
          </a:p>
        </p:txBody>
      </p:sp>
      <p:sp>
        <p:nvSpPr>
          <p:cNvPr id="100041" name="FallbackNote"/>
          <p:cNvSpPr txBox="1"/>
          <p:nvPr/>
        </p:nvSpPr>
        <p:spPr>
          <a:xfrm xmlns:a="http://schemas.openxmlformats.org/drawingml/2006/main">
            <a:off x="609600" y="5207000"/>
            <a:ext cx="10972800" cy="76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000">
                <a:solidFill>
                  <a:srgbClr val="3B4556"/>
                </a:solidFill>
              </a:rPr>
              <a:t>If ICA cannot be reached, the chat automatically answers from built-in pricing knowledge.</a:t>
            </a:r>
          </a:p>
        </p:txBody>
      </p:sp>
    </p:spTree>
  </p:cSld>
</p:sld>
</file>

<file path=ppt/slides/slide5.xml><?xml version="1.0" encoding="utf-8"?>
<p:sld xmlns:p="http://schemas.openxmlformats.org/presentationml/2006/main">
  <p:cSld>
    <p:bg>
      <p:bgPr>
        <a:solidFill xmlns:a="http://schemas.openxmlformats.org/drawingml/2006/main">
          <a:srgbClr val="F4F6F9"/>
        </a:solidFill>
      </p:bgPr>
    </p:bg>
    <p:spTree>
      <p:nvGrpSpPr>
        <p:cNvPr id="1" name=""/>
        <p:cNvGrpSpPr/>
        <p:nvPr/>
      </p:nvGrpSpPr>
      <p:grpSpPr/>
      <p:sp>
        <p:nvSpPr>
          <p:cNvPr id="100042" name="Title"/>
          <p:cNvSpPr txBox="1"/>
          <p:nvPr/>
        </p:nvSpPr>
        <p:spPr>
          <a:xfrm xmlns:a="http://schemas.openxmlformats.org/drawingml/2006/main">
            <a:off x="609600" y="355600"/>
            <a:ext cx="10972800" cy="76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600" b="1">
                <a:solidFill>
                  <a:srgbClr val="0B1F4B"/>
                </a:solidFill>
              </a:rPr>
              <a:t>Four checks on every requirement</a:t>
            </a:r>
          </a:p>
        </p:txBody>
      </p:sp>
      <p:sp>
        <p:nvSpPr>
          <p:cNvPr id="100043" name="Accent"/>
          <p:cNvSpPr/>
          <p:nvPr/>
        </p:nvSpPr>
        <p:spPr>
          <a:xfrm xmlns:a="http://schemas.openxmlformats.org/drawingml/2006/main">
            <a:off x="609600" y="1168400"/>
            <a:ext cx="812800" cy="635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p:txBody>
      </p:sp>
      <p:sp>
        <p:nvSpPr>
          <p:cNvPr id="100044" name="CardA"/>
          <p:cNvSpPr/>
          <p:nvPr/>
        </p:nvSpPr>
        <p:spPr>
          <a:xfrm xmlns:a="http://schemas.openxmlformats.org/drawingml/2006/main">
            <a:off x="609600" y="1524000"/>
            <a:ext cx="5334000" cy="2159000"/>
          </a:xfrm>
          <a:prstGeom xmlns:a="http://schemas.openxmlformats.org/drawingml/2006/main" prst="rect">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100045" name="CardABar"/>
          <p:cNvSpPr/>
          <p:nvPr/>
        </p:nvSpPr>
        <p:spPr>
          <a:xfrm xmlns:a="http://schemas.openxmlformats.org/drawingml/2006/main">
            <a:off x="609600" y="1524000"/>
            <a:ext cx="76200" cy="2159000"/>
          </a:xfrm>
          <a:prstGeom xmlns:a="http://schemas.openxmlformats.org/drawingml/2006/main" prst="rect">
            <a:avLst/>
          </a:prstGeom>
          <a:solidFill xmlns:a="http://schemas.openxmlformats.org/drawingml/2006/main">
            <a:srgbClr val="A2191F"/>
          </a:solidFill>
        </p:spPr>
        <p:txBody>
          <a:bodyPr xmlns:a="http://schemas.openxmlformats.org/drawingml/2006/main"/>
          <a:lstStyle xmlns:a="http://schemas.openxmlformats.org/drawingml/2006/main"/>
          <a:p xmlns:a="http://schemas.openxmlformats.org/drawingml/2006/main"/>
        </p:txBody>
      </p:sp>
      <p:sp>
        <p:nvSpPr>
          <p:cNvPr id="100046" name="HeadA"/>
          <p:cNvSpPr txBox="1"/>
          <p:nvPr/>
        </p:nvSpPr>
        <p:spPr>
          <a:xfrm xmlns:a="http://schemas.openxmlformats.org/drawingml/2006/main">
            <a:off x="863600" y="1651000"/>
            <a:ext cx="4953000" cy="4572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200" b="1">
                <a:solidFill>
                  <a:srgbClr val="0B1F4B"/>
                </a:solidFill>
              </a:rPr>
              <a:t>Quality review</a:t>
            </a:r>
          </a:p>
        </p:txBody>
      </p:sp>
      <p:sp>
        <p:nvSpPr>
          <p:cNvPr id="100047" name="BodyA"/>
          <p:cNvSpPr txBox="1"/>
          <p:nvPr/>
        </p:nvSpPr>
        <p:spPr>
          <a:xfrm xmlns:a="http://schemas.openxmlformats.org/drawingml/2006/main">
            <a:off x="863600" y="2159000"/>
            <a:ext cx="4953000" cy="1397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800">
                <a:solidFill>
                  <a:srgbClr val="3B4556"/>
                </a:solidFill>
              </a:rPr>
              <a:t>Finds missing scenarios and conflicting rules, and writes Given / When / Then tests.</a:t>
            </a:r>
          </a:p>
        </p:txBody>
      </p:sp>
      <p:sp>
        <p:nvSpPr>
          <p:cNvPr id="100048" name="CardB"/>
          <p:cNvSpPr/>
          <p:nvPr/>
        </p:nvSpPr>
        <p:spPr>
          <a:xfrm xmlns:a="http://schemas.openxmlformats.org/drawingml/2006/main">
            <a:off x="6248400" y="1524000"/>
            <a:ext cx="5334000" cy="2159000"/>
          </a:xfrm>
          <a:prstGeom xmlns:a="http://schemas.openxmlformats.org/drawingml/2006/main" prst="rect">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100049" name="CardBBar"/>
          <p:cNvSpPr/>
          <p:nvPr/>
        </p:nvSpPr>
        <p:spPr>
          <a:xfrm xmlns:a="http://schemas.openxmlformats.org/drawingml/2006/main">
            <a:off x="6248400" y="1524000"/>
            <a:ext cx="76200" cy="2159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p:txBody>
      </p:sp>
      <p:sp>
        <p:nvSpPr>
          <p:cNvPr id="100050" name="HeadB"/>
          <p:cNvSpPr txBox="1"/>
          <p:nvPr/>
        </p:nvSpPr>
        <p:spPr>
          <a:xfrm xmlns:a="http://schemas.openxmlformats.org/drawingml/2006/main">
            <a:off x="6502400" y="1651000"/>
            <a:ext cx="4953000" cy="4572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200" b="1">
                <a:solidFill>
                  <a:srgbClr val="0B1F4B"/>
                </a:solidFill>
              </a:rPr>
              <a:t>Pricing validation</a:t>
            </a:r>
          </a:p>
        </p:txBody>
      </p:sp>
      <p:sp>
        <p:nvSpPr>
          <p:cNvPr id="100051" name="BodyB"/>
          <p:cNvSpPr txBox="1"/>
          <p:nvPr/>
        </p:nvSpPr>
        <p:spPr>
          <a:xfrm xmlns:a="http://schemas.openxmlformats.org/drawingml/2006/main">
            <a:off x="6502400" y="2159000"/>
            <a:ext cx="4953000" cy="1397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800">
                <a:solidFill>
                  <a:srgbClr val="3B4556"/>
                </a:solidFill>
              </a:rPr>
              <a:t>Checks the text against interchange, network fees, merchant rates and incentives.</a:t>
            </a:r>
          </a:p>
        </p:txBody>
      </p:sp>
      <p:sp>
        <p:nvSpPr>
          <p:cNvPr id="100052" name="CardC"/>
          <p:cNvSpPr/>
          <p:nvPr/>
        </p:nvSpPr>
        <p:spPr>
          <a:xfrm xmlns:a="http://schemas.openxmlformats.org/drawingml/2006/main">
            <a:off x="609600" y="3937000"/>
            <a:ext cx="5334000" cy="2159000"/>
          </a:xfrm>
          <a:prstGeom xmlns:a="http://schemas.openxmlformats.org/drawingml/2006/main" prst="rect">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100053" name="CardCBar"/>
          <p:cNvSpPr/>
          <p:nvPr/>
        </p:nvSpPr>
        <p:spPr>
          <a:xfrm xmlns:a="http://schemas.openxmlformats.org/drawingml/2006/main">
            <a:off x="609600" y="3937000"/>
            <a:ext cx="76200" cy="2159000"/>
          </a:xfrm>
          <a:prstGeom xmlns:a="http://schemas.openxmlformats.org/drawingml/2006/main" prst="rect">
            <a:avLst/>
          </a:prstGeom>
          <a:solidFill xmlns:a="http://schemas.openxmlformats.org/drawingml/2006/main">
            <a:srgbClr val="8A3FFC"/>
          </a:solidFill>
        </p:spPr>
        <p:txBody>
          <a:bodyPr xmlns:a="http://schemas.openxmlformats.org/drawingml/2006/main"/>
          <a:lstStyle xmlns:a="http://schemas.openxmlformats.org/drawingml/2006/main"/>
          <a:p xmlns:a="http://schemas.openxmlformats.org/drawingml/2006/main"/>
        </p:txBody>
      </p:sp>
      <p:sp>
        <p:nvSpPr>
          <p:cNvPr id="100054" name="HeadC"/>
          <p:cNvSpPr txBox="1"/>
          <p:nvPr/>
        </p:nvSpPr>
        <p:spPr>
          <a:xfrm xmlns:a="http://schemas.openxmlformats.org/drawingml/2006/main">
            <a:off x="863600" y="4064000"/>
            <a:ext cx="4953000" cy="4572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200" b="1">
                <a:solidFill>
                  <a:srgbClr val="0B1F4B"/>
                </a:solidFill>
              </a:rPr>
              <a:t>Fees and rates</a:t>
            </a:r>
          </a:p>
        </p:txBody>
      </p:sp>
      <p:sp>
        <p:nvSpPr>
          <p:cNvPr id="100055" name="BodyC"/>
          <p:cNvSpPr txBox="1"/>
          <p:nvPr/>
        </p:nvSpPr>
        <p:spPr>
          <a:xfrm xmlns:a="http://schemas.openxmlformats.org/drawingml/2006/main">
            <a:off x="863600" y="4572000"/>
            <a:ext cx="4953000" cy="1397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800">
                <a:solidFill>
                  <a:srgbClr val="3B4556"/>
                </a:solidFill>
              </a:rPr>
              <a:t>Lists fixed fees, percentages, tiers and cross-border surcharges found in the text.</a:t>
            </a:r>
          </a:p>
        </p:txBody>
      </p:sp>
      <p:sp>
        <p:nvSpPr>
          <p:cNvPr id="100056" name="CardD"/>
          <p:cNvSpPr/>
          <p:nvPr/>
        </p:nvSpPr>
        <p:spPr>
          <a:xfrm xmlns:a="http://schemas.openxmlformats.org/drawingml/2006/main">
            <a:off x="6248400" y="3937000"/>
            <a:ext cx="5334000" cy="2159000"/>
          </a:xfrm>
          <a:prstGeom xmlns:a="http://schemas.openxmlformats.org/drawingml/2006/main" prst="rect">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100057" name="CardDBar"/>
          <p:cNvSpPr/>
          <p:nvPr/>
        </p:nvSpPr>
        <p:spPr>
          <a:xfrm xmlns:a="http://schemas.openxmlformats.org/drawingml/2006/main">
            <a:off x="6248400" y="3937000"/>
            <a:ext cx="76200" cy="2159000"/>
          </a:xfrm>
          <a:prstGeom xmlns:a="http://schemas.openxmlformats.org/drawingml/2006/main" prst="rect">
            <a:avLst/>
          </a:prstGeom>
          <a:solidFill xmlns:a="http://schemas.openxmlformats.org/drawingml/2006/main">
            <a:srgbClr val="198038"/>
          </a:solidFill>
        </p:spPr>
        <p:txBody>
          <a:bodyPr xmlns:a="http://schemas.openxmlformats.org/drawingml/2006/main"/>
          <a:lstStyle xmlns:a="http://schemas.openxmlformats.org/drawingml/2006/main"/>
          <a:p xmlns:a="http://schemas.openxmlformats.org/drawingml/2006/main"/>
        </p:txBody>
      </p:sp>
      <p:sp>
        <p:nvSpPr>
          <p:cNvPr id="100058" name="HeadD"/>
          <p:cNvSpPr txBox="1"/>
          <p:nvPr/>
        </p:nvSpPr>
        <p:spPr>
          <a:xfrm xmlns:a="http://schemas.openxmlformats.org/drawingml/2006/main">
            <a:off x="6502400" y="4064000"/>
            <a:ext cx="4953000" cy="4572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200" b="1">
                <a:solidFill>
                  <a:srgbClr val="0B1F4B"/>
                </a:solidFill>
              </a:rPr>
              <a:t>Business rules</a:t>
            </a:r>
          </a:p>
        </p:txBody>
      </p:sp>
      <p:sp>
        <p:nvSpPr>
          <p:cNvPr id="100059" name="BodyD"/>
          <p:cNvSpPr txBox="1"/>
          <p:nvPr/>
        </p:nvSpPr>
        <p:spPr>
          <a:xfrm xmlns:a="http://schemas.openxmlformats.org/drawingml/2006/main">
            <a:off x="6502400" y="4572000"/>
            <a:ext cx="4953000" cy="1397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800">
                <a:solidFill>
                  <a:srgbClr val="3B4556"/>
                </a:solidFill>
              </a:rPr>
              <a:t>Writes out who each rule applies to, when it applies, and how the fee is calculated.</a:t>
            </a:r>
          </a:p>
        </p:txBody>
      </p:sp>
    </p:spTree>
  </p:cSld>
</p:sld>
</file>

<file path=ppt/slides/slide6.xml><?xml version="1.0" encoding="utf-8"?>
<p:sld xmlns:a="http://schemas.openxmlformats.org/drawingml/2006/main" xmlns:p="http://schemas.openxmlformats.org/presentationml/2006/main">
  <p:cSld>
    <p:bg>
      <p:bgPr>
        <a:solidFill xmlns:a="http://schemas.openxmlformats.org/drawingml/2006/main">
          <a:srgbClr val="F4F6F9"/>
        </a:solidFill>
      </p:bgPr>
    </p:bg>
    <p:spTree>
      <p:nvGrpSpPr>
        <p:cNvPr id="1" name=""/>
        <p:cNvGrpSpPr/>
        <p:nvPr/>
      </p:nvGrpSpPr>
      <p:grpSpPr/>
      <p:sp>
        <p:nvSpPr>
          <p:cNvPr id="100060" name="Title"/>
          <p:cNvSpPr txBox="1"/>
          <p:nvPr/>
        </p:nvSpPr>
        <p:spPr>
          <a:xfrm xmlns:a="http://schemas.openxmlformats.org/drawingml/2006/main">
            <a:off x="609600" y="355600"/>
            <a:ext cx="10972800" cy="76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600" b="1">
                <a:solidFill>
                  <a:srgbClr val="0B1F4B"/>
                </a:solidFill>
              </a:rPr>
              <a:t>Review a requirement in seconds</a:t>
            </a:r>
          </a:p>
        </p:txBody>
      </p:sp>
      <p:sp>
        <p:nvSpPr>
          <p:cNvPr id="100061" name="Accent"/>
          <p:cNvSpPr/>
          <p:nvPr/>
        </p:nvSpPr>
        <p:spPr>
          <a:xfrm xmlns:a="http://schemas.openxmlformats.org/drawingml/2006/main">
            <a:off x="609600" y="1168400"/>
            <a:ext cx="812800" cy="635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p:txBody>
      </p:sp>
      <p:sp>
        <p:nvSpPr>
          <p:cNvPr id="100062" name="ScoreCard"/>
          <p:cNvSpPr/>
          <p:nvPr/>
        </p:nvSpPr>
        <p:spPr>
          <a:xfrm xmlns:a="http://schemas.openxmlformats.org/drawingml/2006/main">
            <a:off x="609600" y="1651000"/>
            <a:ext cx="3454400" cy="4318000"/>
          </a:xfrm>
          <a:prstGeom xmlns:a="http://schemas.openxmlformats.org/drawingml/2006/main" prst="rect">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100063" name="ScoreBar"/>
          <p:cNvSpPr/>
          <p:nvPr/>
        </p:nvSpPr>
        <p:spPr>
          <a:xfrm xmlns:a="http://schemas.openxmlformats.org/drawingml/2006/main">
            <a:off x="609600" y="1651000"/>
            <a:ext cx="3454400" cy="76200"/>
          </a:xfrm>
          <a:prstGeom xmlns:a="http://schemas.openxmlformats.org/drawingml/2006/main" prst="rect">
            <a:avLst/>
          </a:prstGeom>
          <a:solidFill xmlns:a="http://schemas.openxmlformats.org/drawingml/2006/main">
            <a:srgbClr val="198038"/>
          </a:solidFill>
        </p:spPr>
        <p:txBody>
          <a:bodyPr xmlns:a="http://schemas.openxmlformats.org/drawingml/2006/main"/>
          <a:lstStyle xmlns:a="http://schemas.openxmlformats.org/drawingml/2006/main"/>
          <a:p xmlns:a="http://schemas.openxmlformats.org/drawingml/2006/main"/>
        </p:txBody>
      </p:sp>
      <p:sp>
        <p:nvSpPr>
          <p:cNvPr id="100064" name="ScoreLabel"/>
          <p:cNvSpPr txBox="1"/>
          <p:nvPr/>
        </p:nvSpPr>
        <p:spPr>
          <a:xfrm xmlns:a="http://schemas.openxmlformats.org/drawingml/2006/main">
            <a:off x="812800" y="1905000"/>
            <a:ext cx="3048000" cy="381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000" b="1">
                <a:solidFill>
                  <a:srgbClr val="0B1F4B"/>
                </a:solidFill>
              </a:rPr>
              <a:t>Health score</a:t>
            </a:r>
          </a:p>
        </p:txBody>
      </p:sp>
      <p:sp>
        <p:nvSpPr>
          <p:cNvPr id="100065" name="ScoreValue"/>
          <p:cNvSpPr txBox="1"/>
          <p:nvPr/>
        </p:nvSpPr>
        <p:spPr>
          <a:xfrm xmlns:a="http://schemas.openxmlformats.org/drawingml/2006/main">
            <a:off x="812800" y="2311400"/>
            <a:ext cx="3048000" cy="1143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6600" b="1">
                <a:solidFill>
                  <a:srgbClr val="198038"/>
                </a:solidFill>
              </a:rPr>
              <a:t>81</a:t>
            </a:r>
          </a:p>
        </p:txBody>
      </p:sp>
      <p:sp>
        <p:nvSpPr>
          <p:cNvPr id="100066" name="ScoreDetail"/>
          <p:cNvSpPr txBox="1"/>
          <p:nvPr/>
        </p:nvSpPr>
        <p:spPr>
          <a:xfrm xmlns:a="http://schemas.openxmlformats.org/drawingml/2006/main">
            <a:off x="812800" y="3619500"/>
            <a:ext cx="3048000" cy="2159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800">
                <a:solidFill>
                  <a:srgbClr val="3B4556"/>
                </a:solidFill>
              </a:rPr>
              <a:t>Sample Interchange++ requirement:</a:t>
            </a:r>
          </a:p>
          <a:p xmlns:a="http://schemas.openxmlformats.org/drawingml/2006/main">
            <a:r>
              <a:rPr lang="en-US" sz="1800">
                <a:solidFill>
                  <a:srgbClr val="3B4556"/>
                </a:solidFill>
              </a:rPr>
              <a:t>2 missing scenarios</a:t>
            </a:r>
          </a:p>
          <a:p xmlns:a="http://schemas.openxmlformats.org/drawingml/2006/main">
            <a:r>
              <a:rPr lang="en-US" sz="1800">
                <a:solidFill>
                  <a:srgbClr val="3B4556"/>
                </a:solidFill>
              </a:rPr>
              <a:t>1 inconsistency</a:t>
            </a:r>
          </a:p>
          <a:p xmlns:a="http://schemas.openxmlformats.org/drawingml/2006/main">
            <a:r>
              <a:rPr lang="en-US" sz="1800">
                <a:solidFill>
                  <a:srgbClr val="3B4556"/>
                </a:solidFill>
              </a:rPr>
              <a:t>3 recommendations</a:t>
            </a:r>
          </a:p>
        </p:txBody>
      </p:sp>
      <p:sp>
        <p:nvSpPr>
          <p:cNvPr id="100067" name="ResultsCard"/>
          <p:cNvSpPr/>
          <p:nvPr/>
        </p:nvSpPr>
        <p:spPr>
          <a:xfrm xmlns:a="http://schemas.openxmlformats.org/drawingml/2006/main">
            <a:off x="4368800" y="1651000"/>
            <a:ext cx="7213600" cy="4318000"/>
          </a:xfrm>
          <a:prstGeom xmlns:a="http://schemas.openxmlformats.org/drawingml/2006/main" prst="rect">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100068" name="ResultsBar"/>
          <p:cNvSpPr/>
          <p:nvPr/>
        </p:nvSpPr>
        <p:spPr>
          <a:xfrm xmlns:a="http://schemas.openxmlformats.org/drawingml/2006/main">
            <a:off x="4368800" y="1651000"/>
            <a:ext cx="7213600" cy="762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p:txBody>
      </p:sp>
      <p:sp>
        <p:nvSpPr>
          <p:cNvPr id="100069" name="ResultsHead"/>
          <p:cNvSpPr txBox="1"/>
          <p:nvPr/>
        </p:nvSpPr>
        <p:spPr>
          <a:xfrm xmlns:a="http://schemas.openxmlformats.org/drawingml/2006/main">
            <a:off x="4572000" y="1905000"/>
            <a:ext cx="6807200" cy="4572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400" b="1">
                <a:solidFill>
                  <a:srgbClr val="0B1F4B"/>
                </a:solidFill>
              </a:rPr>
              <a:t>What you get back</a:t>
            </a:r>
          </a:p>
        </p:txBody>
      </p:sp>
      <p:sp>
        <p:nvSpPr>
          <p:cNvPr id="100070" name="ResultsBody"/>
          <p:cNvSpPr txBox="1"/>
          <p:nvPr/>
        </p:nvSpPr>
        <p:spPr>
          <a:xfrm xmlns:a="http://schemas.openxmlformats.org/drawingml/2006/main">
            <a:off x="4572000" y="2489200"/>
            <a:ext cx="6807200" cy="330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000">
                <a:solidFill>
                  <a:srgbClr val="3B4556"/>
                </a:solidFill>
              </a:rPr>
              <a:t>A clear verdict: ready, needs work or not ready</a:t>
            </a:r>
          </a:p>
          <a:p xmlns:a="http://schemas.openxmlformats.org/drawingml/2006/main">
            <a:r>
              <a:rPr lang="en-US" sz="2000">
                <a:solidFill>
                  <a:srgbClr val="3B4556"/>
                </a:solidFill>
              </a:rPr>
              <a:t>What to do next, in priority order</a:t>
            </a:r>
          </a:p>
          <a:p xmlns:a="http://schemas.openxmlformats.org/drawingml/2006/main">
            <a:r>
              <a:rPr lang="en-US" sz="2000">
                <a:solidFill>
                  <a:srgbClr val="3B4556"/>
                </a:solidFill>
              </a:rPr>
              <a:t>Missing scenarios and conflicting rules</a:t>
            </a:r>
          </a:p>
          <a:p xmlns:a="http://schemas.openxmlformats.org/drawingml/2006/main">
            <a:r>
              <a:rPr lang="en-US" sz="2000">
                <a:solidFill>
                  <a:srgbClr val="3B4556"/>
                </a:solidFill>
              </a:rPr>
              <a:t>Fees, rates and extracted business rules</a:t>
            </a:r>
          </a:p>
          <a:p xmlns:a="http://schemas.openxmlformats.org/drawingml/2006/main">
            <a:r>
              <a:rPr lang="en-US" sz="2000">
                <a:solidFill>
                  <a:srgbClr val="3B4556"/>
                </a:solidFill>
              </a:rPr>
              <a:t>Checklist against industry pricing models</a:t>
            </a:r>
          </a:p>
          <a:p xmlns:a="http://schemas.openxmlformats.org/drawingml/2006/main">
            <a:r>
              <a:rPr lang="en-US" sz="2000">
                <a:solidFill>
                  <a:srgbClr val="3B4556"/>
                </a:solidFill>
              </a:rPr>
              <a:t>Export to Markdown, Jira or JSON</a:t>
            </a:r>
          </a:p>
        </p:txBody>
      </p:sp>
    </p:spTree>
  </p:cSld>
</p:sld>
</file>

<file path=ppt/slides/slide7.xml><?xml version="1.0" encoding="utf-8"?>
<p:sld xmlns:p="http://schemas.openxmlformats.org/presentationml/2006/main">
  <p:cSld>
    <p:bg>
      <p:bgPr>
        <a:solidFill xmlns:a="http://schemas.openxmlformats.org/drawingml/2006/main">
          <a:srgbClr val="F4F6F9"/>
        </a:solidFill>
      </p:bgPr>
    </p:bg>
    <p:spTree>
      <p:nvGrpSpPr>
        <p:cNvPr id="1" name=""/>
        <p:cNvGrpSpPr/>
        <p:nvPr/>
      </p:nvGrpSpPr>
      <p:grpSpPr/>
      <p:sp>
        <p:nvSpPr>
          <p:cNvPr id="100071" name="Title"/>
          <p:cNvSpPr txBox="1"/>
          <p:nvPr/>
        </p:nvSpPr>
        <p:spPr>
          <a:xfrm xmlns:a="http://schemas.openxmlformats.org/drawingml/2006/main">
            <a:off x="609600" y="355600"/>
            <a:ext cx="10972800" cy="76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600" b="1">
                <a:solidFill>
                  <a:srgbClr val="0B1F4B"/>
                </a:solidFill>
              </a:rPr>
              <a:t>Calculate fees on a sample payment</a:t>
            </a:r>
          </a:p>
        </p:txBody>
      </p:sp>
      <p:sp>
        <p:nvSpPr>
          <p:cNvPr id="100072" name="Accent"/>
          <p:cNvSpPr/>
          <p:nvPr/>
        </p:nvSpPr>
        <p:spPr>
          <a:xfrm xmlns:a="http://schemas.openxmlformats.org/drawingml/2006/main">
            <a:off x="609600" y="1168400"/>
            <a:ext cx="812800" cy="635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p:txBody>
      </p:sp>
      <p:sp>
        <p:nvSpPr>
          <p:cNvPr id="100073" name="ExampleCard"/>
          <p:cNvSpPr/>
          <p:nvPr/>
        </p:nvSpPr>
        <p:spPr>
          <a:xfrm xmlns:a="http://schemas.openxmlformats.org/drawingml/2006/main">
            <a:off x="609600" y="1651000"/>
            <a:ext cx="5334000" cy="4318000"/>
          </a:xfrm>
          <a:prstGeom xmlns:a="http://schemas.openxmlformats.org/drawingml/2006/main" prst="rect">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100074" name="ExampleBar"/>
          <p:cNvSpPr/>
          <p:nvPr/>
        </p:nvSpPr>
        <p:spPr>
          <a:xfrm xmlns:a="http://schemas.openxmlformats.org/drawingml/2006/main">
            <a:off x="609600" y="1651000"/>
            <a:ext cx="5334000" cy="76200"/>
          </a:xfrm>
          <a:prstGeom xmlns:a="http://schemas.openxmlformats.org/drawingml/2006/main" prst="rect">
            <a:avLst/>
          </a:prstGeom>
          <a:solidFill xmlns:a="http://schemas.openxmlformats.org/drawingml/2006/main">
            <a:srgbClr val="8A3FFC"/>
          </a:solidFill>
        </p:spPr>
        <p:txBody>
          <a:bodyPr xmlns:a="http://schemas.openxmlformats.org/drawingml/2006/main"/>
          <a:lstStyle xmlns:a="http://schemas.openxmlformats.org/drawingml/2006/main"/>
          <a:p xmlns:a="http://schemas.openxmlformats.org/drawingml/2006/main"/>
        </p:txBody>
      </p:sp>
      <p:sp>
        <p:nvSpPr>
          <p:cNvPr id="100075" name="ExampleHead"/>
          <p:cNvSpPr txBox="1"/>
          <p:nvPr/>
        </p:nvSpPr>
        <p:spPr>
          <a:xfrm xmlns:a="http://schemas.openxmlformats.org/drawingml/2006/main">
            <a:off x="812800" y="1879600"/>
            <a:ext cx="4927600" cy="76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200" b="1">
                <a:solidFill>
                  <a:srgbClr val="0B1F4B"/>
                </a:solidFill>
              </a:rPr>
              <a:t>Example: $500 premium cross-border card</a:t>
            </a:r>
          </a:p>
        </p:txBody>
      </p:sp>
      <p:sp>
        <p:nvSpPr>
          <p:cNvPr id="100076" name="ExampleFees"/>
          <p:cNvSpPr txBox="1"/>
          <p:nvPr/>
        </p:nvSpPr>
        <p:spPr>
          <a:xfrm xmlns:a="http://schemas.openxmlformats.org/drawingml/2006/main">
            <a:off x="812800" y="2717800"/>
            <a:ext cx="4927600" cy="1016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5400" b="1">
                <a:solidFill>
                  <a:srgbClr val="8A3FFC"/>
                </a:solidFill>
              </a:rPr>
              <a:t>$19.42</a:t>
            </a:r>
          </a:p>
        </p:txBody>
      </p:sp>
      <p:sp>
        <p:nvSpPr>
          <p:cNvPr id="100077" name="ExampleDetail"/>
          <p:cNvSpPr txBox="1"/>
          <p:nvPr/>
        </p:nvSpPr>
        <p:spPr>
          <a:xfrm xmlns:a="http://schemas.openxmlformats.org/drawingml/2006/main">
            <a:off x="812800" y="3810000"/>
            <a:ext cx="4927600" cy="1143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000">
                <a:solidFill>
                  <a:srgbClr val="3B4556"/>
                </a:solidFill>
              </a:rPr>
              <a:t>Total fees, or 3.884% of the payment</a:t>
            </a:r>
          </a:p>
          <a:p xmlns:a="http://schemas.openxmlformats.org/drawingml/2006/main">
            <a:r>
              <a:rPr lang="en-US" sz="2000">
                <a:solidFill>
                  <a:srgbClr val="3B4556"/>
                </a:solidFill>
              </a:rPr>
              <a:t>Merchant receives $480.58</a:t>
            </a:r>
          </a:p>
        </p:txBody>
      </p:sp>
      <p:sp>
        <p:nvSpPr>
          <p:cNvPr id="100078" name="ExampleFoot"/>
          <p:cNvSpPr txBox="1"/>
          <p:nvPr/>
        </p:nvSpPr>
        <p:spPr>
          <a:xfrm xmlns:a="http://schemas.openxmlformats.org/drawingml/2006/main">
            <a:off x="812800" y="5016500"/>
            <a:ext cx="4927600" cy="8255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800">
                <a:solidFill>
                  <a:srgbClr val="57606E"/>
                </a:solidFill>
              </a:rPr>
              <a:t>Pick a preset or enter your own amount, card type and region.</a:t>
            </a:r>
          </a:p>
        </p:txBody>
      </p:sp>
      <p:sp>
        <p:nvSpPr>
          <p:cNvPr id="100079" name="SplitCard"/>
          <p:cNvSpPr/>
          <p:nvPr/>
        </p:nvSpPr>
        <p:spPr>
          <a:xfrm xmlns:a="http://schemas.openxmlformats.org/drawingml/2006/main">
            <a:off x="6248400" y="1651000"/>
            <a:ext cx="5334000" cy="4318000"/>
          </a:xfrm>
          <a:prstGeom xmlns:a="http://schemas.openxmlformats.org/drawingml/2006/main" prst="rect">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100080" name="SplitBar"/>
          <p:cNvSpPr/>
          <p:nvPr/>
        </p:nvSpPr>
        <p:spPr>
          <a:xfrm xmlns:a="http://schemas.openxmlformats.org/drawingml/2006/main">
            <a:off x="6248400" y="1651000"/>
            <a:ext cx="5334000" cy="762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p:txBody>
      </p:sp>
      <p:sp>
        <p:nvSpPr>
          <p:cNvPr id="100081" name="SplitHead"/>
          <p:cNvSpPr txBox="1"/>
          <p:nvPr/>
        </p:nvSpPr>
        <p:spPr>
          <a:xfrm xmlns:a="http://schemas.openxmlformats.org/drawingml/2006/main">
            <a:off x="6451600" y="1879600"/>
            <a:ext cx="4927600" cy="50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400" b="1">
                <a:solidFill>
                  <a:srgbClr val="0B1F4B"/>
                </a:solidFill>
              </a:rPr>
              <a:t>Who gets the fees</a:t>
            </a:r>
          </a:p>
        </p:txBody>
      </p:sp>
      <p:sp>
        <p:nvSpPr>
          <p:cNvPr id="100082" name="IssuerBar"/>
          <p:cNvSpPr/>
          <p:nvPr/>
        </p:nvSpPr>
        <p:spPr>
          <a:xfrm xmlns:a="http://schemas.openxmlformats.org/drawingml/2006/main">
            <a:off x="6451600" y="2667000"/>
            <a:ext cx="4546600" cy="4064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p:txBody>
      </p:sp>
      <p:sp>
        <p:nvSpPr>
          <p:cNvPr id="100083" name="IssuerText"/>
          <p:cNvSpPr txBox="1"/>
          <p:nvPr/>
        </p:nvSpPr>
        <p:spPr>
          <a:xfrm xmlns:a="http://schemas.openxmlformats.org/drawingml/2006/main">
            <a:off x="6451600" y="3124200"/>
            <a:ext cx="4927600" cy="4318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000" b="1">
                <a:solidFill>
                  <a:srgbClr val="0B1F4B"/>
                </a:solidFill>
              </a:rPr>
              <a:t>Issuer  59.7%</a:t>
            </a:r>
          </a:p>
        </p:txBody>
      </p:sp>
      <p:sp>
        <p:nvSpPr>
          <p:cNvPr id="100084" name="SchemeBar"/>
          <p:cNvSpPr/>
          <p:nvPr/>
        </p:nvSpPr>
        <p:spPr>
          <a:xfrm xmlns:a="http://schemas.openxmlformats.org/drawingml/2006/main">
            <a:off x="6451600" y="3683000"/>
            <a:ext cx="2628900" cy="406400"/>
          </a:xfrm>
          <a:prstGeom xmlns:a="http://schemas.openxmlformats.org/drawingml/2006/main" prst="rect">
            <a:avLst/>
          </a:prstGeom>
          <a:solidFill xmlns:a="http://schemas.openxmlformats.org/drawingml/2006/main">
            <a:srgbClr val="8A3FFC"/>
          </a:solidFill>
        </p:spPr>
        <p:txBody>
          <a:bodyPr xmlns:a="http://schemas.openxmlformats.org/drawingml/2006/main"/>
          <a:lstStyle xmlns:a="http://schemas.openxmlformats.org/drawingml/2006/main"/>
          <a:p xmlns:a="http://schemas.openxmlformats.org/drawingml/2006/main"/>
        </p:txBody>
      </p:sp>
      <p:sp>
        <p:nvSpPr>
          <p:cNvPr id="100085" name="SchemeText"/>
          <p:cNvSpPr txBox="1"/>
          <p:nvPr/>
        </p:nvSpPr>
        <p:spPr>
          <a:xfrm xmlns:a="http://schemas.openxmlformats.org/drawingml/2006/main">
            <a:off x="6451600" y="4140200"/>
            <a:ext cx="4927600" cy="4318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000" b="1">
                <a:solidFill>
                  <a:srgbClr val="0B1F4B"/>
                </a:solidFill>
              </a:rPr>
              <a:t>Card scheme  34.6%</a:t>
            </a:r>
          </a:p>
        </p:txBody>
      </p:sp>
      <p:sp>
        <p:nvSpPr>
          <p:cNvPr id="100086" name="ProcBar"/>
          <p:cNvSpPr/>
          <p:nvPr/>
        </p:nvSpPr>
        <p:spPr>
          <a:xfrm xmlns:a="http://schemas.openxmlformats.org/drawingml/2006/main">
            <a:off x="6451600" y="4699000"/>
            <a:ext cx="431800" cy="406400"/>
          </a:xfrm>
          <a:prstGeom xmlns:a="http://schemas.openxmlformats.org/drawingml/2006/main" prst="rect">
            <a:avLst/>
          </a:prstGeom>
          <a:solidFill xmlns:a="http://schemas.openxmlformats.org/drawingml/2006/main">
            <a:srgbClr val="198038"/>
          </a:solidFill>
        </p:spPr>
        <p:txBody>
          <a:bodyPr xmlns:a="http://schemas.openxmlformats.org/drawingml/2006/main"/>
          <a:lstStyle xmlns:a="http://schemas.openxmlformats.org/drawingml/2006/main"/>
          <a:p xmlns:a="http://schemas.openxmlformats.org/drawingml/2006/main"/>
        </p:txBody>
      </p:sp>
      <p:sp>
        <p:nvSpPr>
          <p:cNvPr id="100087" name="ProcText"/>
          <p:cNvSpPr txBox="1"/>
          <p:nvPr/>
        </p:nvSpPr>
        <p:spPr>
          <a:xfrm xmlns:a="http://schemas.openxmlformats.org/drawingml/2006/main">
            <a:off x="6451600" y="5156200"/>
            <a:ext cx="4927600" cy="4318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000" b="1">
                <a:solidFill>
                  <a:srgbClr val="0B1F4B"/>
                </a:solidFill>
              </a:rPr>
              <a:t>Processor  5.7%</a:t>
            </a:r>
          </a:p>
        </p:txBody>
      </p:sp>
    </p:spTree>
  </p:cSld>
</p:sld>
</file>

<file path=ppt/slides/slide8.xml><?xml version="1.0" encoding="utf-8"?>
<p:sld xmlns:p="http://schemas.openxmlformats.org/presentationml/2006/main">
  <p:cSld>
    <p:bg>
      <p:bgPr>
        <a:solidFill xmlns:a="http://schemas.openxmlformats.org/drawingml/2006/main">
          <a:srgbClr val="F4F6F9"/>
        </a:solidFill>
      </p:bgPr>
    </p:bg>
    <p:spTree>
      <p:nvGrpSpPr>
        <p:cNvPr id="1" name=""/>
        <p:cNvGrpSpPr/>
        <p:nvPr/>
      </p:nvGrpSpPr>
      <p:grpSpPr/>
      <p:sp>
        <p:nvSpPr>
          <p:cNvPr id="100088" name="Title"/>
          <p:cNvSpPr txBox="1"/>
          <p:nvPr/>
        </p:nvSpPr>
        <p:spPr>
          <a:xfrm xmlns:a="http://schemas.openxmlformats.org/drawingml/2006/main">
            <a:off x="609600" y="355600"/>
            <a:ext cx="10972800" cy="76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600" b="1">
                <a:solidFill>
                  <a:srgbClr val="0B1F4B"/>
                </a:solidFill>
              </a:rPr>
              <a:t>Ask a question, powered by IBM ICA</a:t>
            </a:r>
          </a:p>
        </p:txBody>
      </p:sp>
      <p:sp>
        <p:nvSpPr>
          <p:cNvPr id="100089" name="Accent"/>
          <p:cNvSpPr/>
          <p:nvPr/>
        </p:nvSpPr>
        <p:spPr>
          <a:xfrm xmlns:a="http://schemas.openxmlformats.org/drawingml/2006/main">
            <a:off x="609600" y="1168400"/>
            <a:ext cx="812800" cy="635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p:txBody>
      </p:sp>
      <p:sp>
        <p:nvSpPr>
          <p:cNvPr id="100090" name="AskCard"/>
          <p:cNvSpPr/>
          <p:nvPr/>
        </p:nvSpPr>
        <p:spPr>
          <a:xfrm xmlns:a="http://schemas.openxmlformats.org/drawingml/2006/main">
            <a:off x="609600" y="1651000"/>
            <a:ext cx="5334000" cy="4318000"/>
          </a:xfrm>
          <a:prstGeom xmlns:a="http://schemas.openxmlformats.org/drawingml/2006/main" prst="rect">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100091" name="AskBar"/>
          <p:cNvSpPr/>
          <p:nvPr/>
        </p:nvSpPr>
        <p:spPr>
          <a:xfrm xmlns:a="http://schemas.openxmlformats.org/drawingml/2006/main">
            <a:off x="609600" y="1651000"/>
            <a:ext cx="5334000" cy="762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p:txBody>
      </p:sp>
      <p:sp>
        <p:nvSpPr>
          <p:cNvPr id="100092" name="AskHead"/>
          <p:cNvSpPr txBox="1"/>
          <p:nvPr/>
        </p:nvSpPr>
        <p:spPr>
          <a:xfrm xmlns:a="http://schemas.openxmlformats.org/drawingml/2006/main">
            <a:off x="812800" y="1879600"/>
            <a:ext cx="4927600" cy="50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400" b="1">
                <a:solidFill>
                  <a:srgbClr val="0B1F4B"/>
                </a:solidFill>
              </a:rPr>
              <a:t>Plain-English answers</a:t>
            </a:r>
          </a:p>
        </p:txBody>
      </p:sp>
      <p:sp>
        <p:nvSpPr>
          <p:cNvPr id="100093" name="AskBody"/>
          <p:cNvSpPr txBox="1"/>
          <p:nvPr/>
        </p:nvSpPr>
        <p:spPr>
          <a:xfrm xmlns:a="http://schemas.openxmlformats.org/drawingml/2006/main">
            <a:off x="812800" y="2514600"/>
            <a:ext cx="4927600" cy="330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000">
                <a:solidFill>
                  <a:srgbClr val="3B4556"/>
                </a:solidFill>
              </a:rPr>
              <a:t>Type a pricing question in a chat box</a:t>
            </a:r>
          </a:p>
          <a:p xmlns:a="http://schemas.openxmlformats.org/drawingml/2006/main">
            <a:r>
              <a:rPr lang="en-US" sz="2000">
                <a:solidFill>
                  <a:srgbClr val="3B4556"/>
                </a:solidFill>
              </a:rPr>
              <a:t>The assistant sends it to the IBM ICA agent</a:t>
            </a:r>
          </a:p>
          <a:p xmlns:a="http://schemas.openxmlformats.org/drawingml/2006/main">
            <a:r>
              <a:rPr lang="en-US" sz="2000">
                <a:solidFill>
                  <a:srgbClr val="3B4556"/>
                </a:solidFill>
              </a:rPr>
              <a:t>Get an answer in the same window</a:t>
            </a:r>
          </a:p>
          <a:p xmlns:a="http://schemas.openxmlformats.org/drawingml/2006/main">
            <a:r>
              <a:rPr lang="en-US" sz="2000">
                <a:solidFill>
                  <a:srgbClr val="3B4556"/>
                </a:solidFill>
              </a:rPr>
              <a:t>Useful for terms like interchange, MDR and FX markup</a:t>
            </a:r>
          </a:p>
        </p:txBody>
      </p:sp>
      <p:sp>
        <p:nvSpPr>
          <p:cNvPr id="100094" name="FallbackCard"/>
          <p:cNvSpPr/>
          <p:nvPr/>
        </p:nvSpPr>
        <p:spPr>
          <a:xfrm xmlns:a="http://schemas.openxmlformats.org/drawingml/2006/main">
            <a:off x="6248400" y="1651000"/>
            <a:ext cx="5334000" cy="4318000"/>
          </a:xfrm>
          <a:prstGeom xmlns:a="http://schemas.openxmlformats.org/drawingml/2006/main" prst="rect">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100095" name="FallbackBar"/>
          <p:cNvSpPr/>
          <p:nvPr/>
        </p:nvSpPr>
        <p:spPr>
          <a:xfrm xmlns:a="http://schemas.openxmlformats.org/drawingml/2006/main">
            <a:off x="6248400" y="1651000"/>
            <a:ext cx="5334000" cy="76200"/>
          </a:xfrm>
          <a:prstGeom xmlns:a="http://schemas.openxmlformats.org/drawingml/2006/main" prst="rect">
            <a:avLst/>
          </a:prstGeom>
          <a:solidFill xmlns:a="http://schemas.openxmlformats.org/drawingml/2006/main">
            <a:srgbClr val="A2191F"/>
          </a:solidFill>
        </p:spPr>
        <p:txBody>
          <a:bodyPr xmlns:a="http://schemas.openxmlformats.org/drawingml/2006/main"/>
          <a:lstStyle xmlns:a="http://schemas.openxmlformats.org/drawingml/2006/main"/>
          <a:p xmlns:a="http://schemas.openxmlformats.org/drawingml/2006/main"/>
        </p:txBody>
      </p:sp>
      <p:sp>
        <p:nvSpPr>
          <p:cNvPr id="100096" name="FallbackHead"/>
          <p:cNvSpPr txBox="1"/>
          <p:nvPr/>
        </p:nvSpPr>
        <p:spPr>
          <a:xfrm xmlns:a="http://schemas.openxmlformats.org/drawingml/2006/main">
            <a:off x="6451600" y="1879600"/>
            <a:ext cx="4927600" cy="50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400" b="1">
                <a:solidFill>
                  <a:srgbClr val="0B1F4B"/>
                </a:solidFill>
              </a:rPr>
              <a:t>If ICA is unreachable</a:t>
            </a:r>
          </a:p>
        </p:txBody>
      </p:sp>
      <p:sp>
        <p:nvSpPr>
          <p:cNvPr id="100097" name="FallbackBody"/>
          <p:cNvSpPr txBox="1"/>
          <p:nvPr/>
        </p:nvSpPr>
        <p:spPr>
          <a:xfrm xmlns:a="http://schemas.openxmlformats.org/drawingml/2006/main">
            <a:off x="6451600" y="2514600"/>
            <a:ext cx="4927600" cy="330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000">
                <a:solidFill>
                  <a:srgbClr val="3B4556"/>
                </a:solidFill>
              </a:rPr>
              <a:t>The call times out after 10 seconds</a:t>
            </a:r>
          </a:p>
          <a:p xmlns:a="http://schemas.openxmlformats.org/drawingml/2006/main">
            <a:r>
              <a:rPr lang="en-US" sz="2000">
                <a:solidFill>
                  <a:srgbClr val="3B4556"/>
                </a:solidFill>
              </a:rPr>
              <a:t>The built-in pricing engine answers instead</a:t>
            </a:r>
          </a:p>
          <a:p xmlns:a="http://schemas.openxmlformats.org/drawingml/2006/main">
            <a:r>
              <a:rPr lang="en-US" sz="2000">
                <a:solidFill>
                  <a:srgbClr val="3B4556"/>
                </a:solidFill>
              </a:rPr>
              <a:t>The reply is labelled as a fallback</a:t>
            </a:r>
          </a:p>
          <a:p xmlns:a="http://schemas.openxmlformats.org/drawingml/2006/main">
            <a:r>
              <a:rPr lang="en-US" sz="2000">
                <a:solidFill>
                  <a:srgbClr val="3B4556"/>
                </a:solidFill>
              </a:rPr>
              <a:t>In current testing, replies come from the fallback</a:t>
            </a:r>
          </a:p>
        </p:txBody>
      </p:sp>
    </p:spTree>
  </p:cSld>
</p:sld>
</file>

<file path=ppt/slides/slide9.xml><?xml version="1.0" encoding="utf-8"?>
<p:sld xmlns:p="http://schemas.openxmlformats.org/presentationml/2006/main">
  <p:cSld>
    <p:bg>
      <p:bgPr>
        <a:solidFill xmlns:a="http://schemas.openxmlformats.org/drawingml/2006/main">
          <a:srgbClr val="F4F6F9"/>
        </a:solidFill>
      </p:bgPr>
    </p:bg>
    <p:spTree>
      <p:nvGrpSpPr>
        <p:cNvPr id="1" name=""/>
        <p:cNvGrpSpPr/>
        <p:nvPr/>
      </p:nvGrpSpPr>
      <p:grpSpPr/>
      <p:sp>
        <p:nvSpPr>
          <p:cNvPr id="100098" name="Title"/>
          <p:cNvSpPr txBox="1"/>
          <p:nvPr/>
        </p:nvSpPr>
        <p:spPr>
          <a:xfrm xmlns:a="http://schemas.openxmlformats.org/drawingml/2006/main">
            <a:off x="609600" y="355600"/>
            <a:ext cx="10972800" cy="76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600" b="1">
                <a:solidFill>
                  <a:srgbClr val="0B1F4B"/>
                </a:solidFill>
              </a:rPr>
              <a:t>Simple technology, safe by default</a:t>
            </a:r>
          </a:p>
        </p:txBody>
      </p:sp>
      <p:sp>
        <p:nvSpPr>
          <p:cNvPr id="100099" name="Accent"/>
          <p:cNvSpPr/>
          <p:nvPr/>
        </p:nvSpPr>
        <p:spPr>
          <a:xfrm xmlns:a="http://schemas.openxmlformats.org/drawingml/2006/main">
            <a:off x="609600" y="1168400"/>
            <a:ext cx="812800" cy="635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p:txBody>
      </p:sp>
      <p:sp>
        <p:nvSpPr>
          <p:cNvPr id="100100" name="TechCard"/>
          <p:cNvSpPr/>
          <p:nvPr/>
        </p:nvSpPr>
        <p:spPr>
          <a:xfrm xmlns:a="http://schemas.openxmlformats.org/drawingml/2006/main">
            <a:off x="609600" y="1651000"/>
            <a:ext cx="5334000" cy="4318000"/>
          </a:xfrm>
          <a:prstGeom xmlns:a="http://schemas.openxmlformats.org/drawingml/2006/main" prst="rect">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100101" name="TechBar"/>
          <p:cNvSpPr/>
          <p:nvPr/>
        </p:nvSpPr>
        <p:spPr>
          <a:xfrm xmlns:a="http://schemas.openxmlformats.org/drawingml/2006/main">
            <a:off x="609600" y="1651000"/>
            <a:ext cx="5334000" cy="762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p:txBody>
      </p:sp>
      <p:sp>
        <p:nvSpPr>
          <p:cNvPr id="100102" name="TechHead"/>
          <p:cNvSpPr txBox="1"/>
          <p:nvPr/>
        </p:nvSpPr>
        <p:spPr>
          <a:xfrm xmlns:a="http://schemas.openxmlformats.org/drawingml/2006/main">
            <a:off x="812800" y="1879600"/>
            <a:ext cx="4927600" cy="50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400" b="1">
                <a:solidFill>
                  <a:srgbClr val="0B1F4B"/>
                </a:solidFill>
              </a:rPr>
              <a:t>Technology</a:t>
            </a:r>
          </a:p>
        </p:txBody>
      </p:sp>
      <p:sp>
        <p:nvSpPr>
          <p:cNvPr id="100103" name="TechBody"/>
          <p:cNvSpPr txBox="1"/>
          <p:nvPr/>
        </p:nvSpPr>
        <p:spPr>
          <a:xfrm xmlns:a="http://schemas.openxmlformats.org/drawingml/2006/main">
            <a:off x="812800" y="2514600"/>
            <a:ext cx="4927600" cy="330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000">
                <a:solidFill>
                  <a:srgbClr val="3B4556"/>
                </a:solidFill>
              </a:rPr>
              <a:t>Node.js and Express server</a:t>
            </a:r>
          </a:p>
          <a:p xmlns:a="http://schemas.openxmlformats.org/drawingml/2006/main">
            <a:r>
              <a:rPr lang="en-US" sz="2000">
                <a:solidFill>
                  <a:srgbClr val="3B4556"/>
                </a:solidFill>
              </a:rPr>
              <a:t>axios client for the ICA call</a:t>
            </a:r>
          </a:p>
          <a:p xmlns:a="http://schemas.openxmlformats.org/drawingml/2006/main">
            <a:r>
              <a:rPr lang="en-US" sz="2000">
                <a:solidFill>
                  <a:srgbClr val="3B4556"/>
                </a:solidFill>
              </a:rPr>
              <a:t>Plain HTML, CSS and JavaScript front end</a:t>
            </a:r>
          </a:p>
          <a:p xmlns:a="http://schemas.openxmlformats.org/drawingml/2006/main">
            <a:r>
              <a:rPr lang="en-US" sz="2000">
                <a:solidFill>
                  <a:srgbClr val="3B4556"/>
                </a:solidFill>
              </a:rPr>
              <a:t>No external CDN or build step</a:t>
            </a:r>
          </a:p>
          <a:p xmlns:a="http://schemas.openxmlformats.org/drawingml/2006/main">
            <a:r>
              <a:rPr lang="en-US" sz="2000">
                <a:solidFill>
                  <a:srgbClr val="3B4556"/>
                </a:solidFill>
              </a:rPr>
              <a:t>Sample data for four pricing models</a:t>
            </a:r>
          </a:p>
        </p:txBody>
      </p:sp>
      <p:sp>
        <p:nvSpPr>
          <p:cNvPr id="100104" name="SecCard"/>
          <p:cNvSpPr/>
          <p:nvPr/>
        </p:nvSpPr>
        <p:spPr>
          <a:xfrm xmlns:a="http://schemas.openxmlformats.org/drawingml/2006/main">
            <a:off x="6248400" y="1651000"/>
            <a:ext cx="5334000" cy="4318000"/>
          </a:xfrm>
          <a:prstGeom xmlns:a="http://schemas.openxmlformats.org/drawingml/2006/main" prst="rect">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100105" name="SecBar"/>
          <p:cNvSpPr/>
          <p:nvPr/>
        </p:nvSpPr>
        <p:spPr>
          <a:xfrm xmlns:a="http://schemas.openxmlformats.org/drawingml/2006/main">
            <a:off x="6248400" y="1651000"/>
            <a:ext cx="5334000" cy="76200"/>
          </a:xfrm>
          <a:prstGeom xmlns:a="http://schemas.openxmlformats.org/drawingml/2006/main" prst="rect">
            <a:avLst/>
          </a:prstGeom>
          <a:solidFill xmlns:a="http://schemas.openxmlformats.org/drawingml/2006/main">
            <a:srgbClr val="198038"/>
          </a:solidFill>
        </p:spPr>
        <p:txBody>
          <a:bodyPr xmlns:a="http://schemas.openxmlformats.org/drawingml/2006/main"/>
          <a:lstStyle xmlns:a="http://schemas.openxmlformats.org/drawingml/2006/main"/>
          <a:p xmlns:a="http://schemas.openxmlformats.org/drawingml/2006/main"/>
        </p:txBody>
      </p:sp>
      <p:sp>
        <p:nvSpPr>
          <p:cNvPr id="100106" name="SecHead"/>
          <p:cNvSpPr txBox="1"/>
          <p:nvPr/>
        </p:nvSpPr>
        <p:spPr>
          <a:xfrm xmlns:a="http://schemas.openxmlformats.org/drawingml/2006/main">
            <a:off x="6451600" y="1879600"/>
            <a:ext cx="4927600" cy="50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400" b="1">
                <a:solidFill>
                  <a:srgbClr val="0B1F4B"/>
                </a:solidFill>
              </a:rPr>
              <a:t>Security and privacy</a:t>
            </a:r>
          </a:p>
        </p:txBody>
      </p:sp>
      <p:sp>
        <p:nvSpPr>
          <p:cNvPr id="100107" name="SecBody"/>
          <p:cNvSpPr txBox="1"/>
          <p:nvPr/>
        </p:nvSpPr>
        <p:spPr>
          <a:xfrm xmlns:a="http://schemas.openxmlformats.org/drawingml/2006/main">
            <a:off x="6451600" y="2514600"/>
            <a:ext cx="4927600" cy="330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000">
                <a:solidFill>
                  <a:srgbClr val="3B4556"/>
                </a:solidFill>
              </a:rPr>
              <a:t>API key entered in a masked field</a:t>
            </a:r>
          </a:p>
          <a:p xmlns:a="http://schemas.openxmlformats.org/drawingml/2006/main">
            <a:r>
              <a:rPr lang="en-US" sz="2000">
                <a:solidFill>
                  <a:srgbClr val="3B4556"/>
                </a:solidFill>
              </a:rPr>
              <a:t>Leave it blank to keep the saved key</a:t>
            </a:r>
          </a:p>
          <a:p xmlns:a="http://schemas.openxmlformats.org/drawingml/2006/main">
            <a:r>
              <a:rPr lang="en-US" sz="2000">
                <a:solidFill>
                  <a:srgbClr val="3B4556"/>
                </a:solidFill>
              </a:rPr>
              <a:t>Drafts are saved in your browser only</a:t>
            </a:r>
          </a:p>
          <a:p xmlns:a="http://schemas.openxmlformats.org/drawingml/2006/main">
            <a:r>
              <a:rPr lang="en-US" sz="2000">
                <a:solidFill>
                  <a:srgbClr val="3B4556"/>
                </a:solidFill>
              </a:rPr>
              <a:t>The pricing engine runs locally</a:t>
            </a:r>
          </a:p>
        </p:txBody>
      </p:sp>
    </p:spTree>
  </p:cSld>
</p:sld>
</file>

<file path=ppt/slides/slide10.xml><?xml version="1.0" encoding="utf-8"?>
<p:sld xmlns:p="http://schemas.openxmlformats.org/presentationml/2006/main">
  <p:cSld>
    <p:bg>
      <p:bgPr>
        <a:solidFill xmlns:a="http://schemas.openxmlformats.org/drawingml/2006/main">
          <a:srgbClr val="0B1F4B"/>
        </a:solidFill>
      </p:bgPr>
    </p:bg>
    <p:spTree>
      <p:nvGrpSpPr>
        <p:cNvPr id="1" name=""/>
        <p:cNvGrpSpPr/>
        <p:nvPr/>
      </p:nvGrpSpPr>
      <p:grpSpPr/>
      <p:sp>
        <p:nvSpPr>
          <p:cNvPr id="100108" name="Title"/>
          <p:cNvSpPr txBox="1"/>
          <p:nvPr/>
        </p:nvSpPr>
        <p:spPr>
          <a:xfrm xmlns:a="http://schemas.openxmlformats.org/drawingml/2006/main">
            <a:off x="609600" y="355600"/>
            <a:ext cx="10972800" cy="76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4000" b="1">
                <a:solidFill>
                  <a:srgbClr val="FFFFFF"/>
                </a:solidFill>
              </a:rPr>
              <a:t>Next steps</a:t>
            </a:r>
          </a:p>
        </p:txBody>
      </p:sp>
      <p:sp>
        <p:nvSpPr>
          <p:cNvPr id="100109" name="Accent"/>
          <p:cNvSpPr/>
          <p:nvPr/>
        </p:nvSpPr>
        <p:spPr>
          <a:xfrm xmlns:a="http://schemas.openxmlformats.org/drawingml/2006/main">
            <a:off x="609600" y="1168400"/>
            <a:ext cx="812800" cy="635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p:txBody>
      </p:sp>
      <p:sp>
        <p:nvSpPr>
          <p:cNvPr id="100110" name="Step1Num"/>
          <p:cNvSpPr txBox="1"/>
          <p:nvPr/>
        </p:nvSpPr>
        <p:spPr>
          <a:xfrm xmlns:a="http://schemas.openxmlformats.org/drawingml/2006/main">
            <a:off x="609600" y="1778000"/>
            <a:ext cx="762000" cy="889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4800" b="1">
                <a:solidFill>
                  <a:srgbClr val="78A9FF"/>
                </a:solidFill>
              </a:rPr>
              <a:t>1</a:t>
            </a:r>
          </a:p>
        </p:txBody>
      </p:sp>
      <p:sp>
        <p:nvSpPr>
          <p:cNvPr id="100111" name="Step1Text"/>
          <p:cNvSpPr txBox="1"/>
          <p:nvPr/>
        </p:nvSpPr>
        <p:spPr>
          <a:xfrm xmlns:a="http://schemas.openxmlformats.org/drawingml/2006/main">
            <a:off x="1524000" y="1905000"/>
            <a:ext cx="9906000" cy="76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200">
                <a:solidFill>
                  <a:srgbClr val="FFFFFF"/>
                </a:solidFill>
              </a:rPr>
              <a:t>Confirm the live ICA endpoint and API key so chat stops using the fallback</a:t>
            </a:r>
          </a:p>
        </p:txBody>
      </p:sp>
      <p:sp>
        <p:nvSpPr>
          <p:cNvPr id="100112" name="Step2Num"/>
          <p:cNvSpPr txBox="1"/>
          <p:nvPr/>
        </p:nvSpPr>
        <p:spPr>
          <a:xfrm xmlns:a="http://schemas.openxmlformats.org/drawingml/2006/main">
            <a:off x="609600" y="3175000"/>
            <a:ext cx="762000" cy="889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4800" b="1">
                <a:solidFill>
                  <a:srgbClr val="78A9FF"/>
                </a:solidFill>
              </a:rPr>
              <a:t>2</a:t>
            </a:r>
          </a:p>
        </p:txBody>
      </p:sp>
      <p:sp>
        <p:nvSpPr>
          <p:cNvPr id="100113" name="Step2Text"/>
          <p:cNvSpPr txBox="1"/>
          <p:nvPr/>
        </p:nvSpPr>
        <p:spPr>
          <a:xfrm xmlns:a="http://schemas.openxmlformats.org/drawingml/2006/main">
            <a:off x="1524000" y="3302000"/>
            <a:ext cx="9906000" cy="76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200">
                <a:solidFill>
                  <a:srgbClr val="FFFFFF"/>
                </a:solidFill>
              </a:rPr>
              <a:t>Add automated tests for the pricing engine</a:t>
            </a:r>
          </a:p>
        </p:txBody>
      </p:sp>
      <p:sp>
        <p:nvSpPr>
          <p:cNvPr id="100114" name="Step3Num"/>
          <p:cNvSpPr txBox="1"/>
          <p:nvPr/>
        </p:nvSpPr>
        <p:spPr>
          <a:xfrm xmlns:a="http://schemas.openxmlformats.org/drawingml/2006/main">
            <a:off x="609600" y="4572000"/>
            <a:ext cx="762000" cy="889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4800" b="1">
                <a:solidFill>
                  <a:srgbClr val="78A9FF"/>
                </a:solidFill>
              </a:rPr>
              <a:t>3</a:t>
            </a:r>
          </a:p>
        </p:txBody>
      </p:sp>
      <p:sp>
        <p:nvSpPr>
          <p:cNvPr id="100115" name="Step3Text"/>
          <p:cNvSpPr txBox="1"/>
          <p:nvPr/>
        </p:nvSpPr>
        <p:spPr>
          <a:xfrm xmlns:a="http://schemas.openxmlformats.org/drawingml/2006/main">
            <a:off x="1524000" y="4699000"/>
            <a:ext cx="9906000" cy="76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200">
                <a:solidFill>
                  <a:srgbClr val="FFFFFF"/>
                </a:solidFill>
              </a:rPr>
              <a:t>Load real fee schedules to replace the sample rates</a:t>
            </a:r>
          </a:p>
        </p:txBody>
      </p:sp>
      <p:sp>
        <p:nvSpPr>
          <p:cNvPr id="100116" name="Footer"/>
          <p:cNvSpPr txBox="1"/>
          <p:nvPr/>
        </p:nvSpPr>
        <p:spPr>
          <a:xfrm xmlns:a="http://schemas.openxmlformats.org/drawingml/2006/main">
            <a:off x="609600" y="6096000"/>
            <a:ext cx="10972800" cy="381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800">
                <a:solidFill>
                  <a:srgbClr val="C6D0E3"/>
                </a:solidFill>
              </a:rPr>
              <a:t>Credit Card Pricing Assistant  |  IBM Consulting Advantage</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ap:Properties xmlns:ap="http://schemas.openxmlformats.org/officeDocument/2006/extended-properties">
  <ap:Application>OfficeCLI/1.0.144</ap:Application>
</ap:Properties>
</file>

<file path=docProps/core.xml><?xml version="1.0" encoding="utf-8"?>
<cp:coreProperties xmlns:cp="http://schemas.openxmlformats.org/package/2006/metadata/core-properties" xmlns:dc="http://purl.org/dc/elements/1.1/" xmlns:dcterms="http://purl.org/dc/terms/" xmlns:xsi="http://www.w3.org/2001/XMLSchema-instance">
  <dc:creator>OfficeCLI</dc:creator>
  <dcterms:created xsi:type="dcterms:W3CDTF">2026-10-19T03:41:08Z</dcterms:created>
  <cp:lastModifiedBy>OfficeCLI</cp:lastModifiedBy>
  <dcterms:modified xsi:type="dcterms:W3CDTF">2026-10-19T03:41:08Z</dcterms:modified>
</cp:coreProperties>
</file>

<file path=docProps/custom.xml><?xml version="1.0" encoding="utf-8"?>
<op:Properties xmlns:op="http://schemas.openxmlformats.org/officeDocument/2006/custom-properties">
  <op:property fmtid="{D5CDD505-2E9C-101B-9397-08002B2CF9AE}" pid="2" name="OfficeCLI.Version">
    <vt:lpwstr xmlns:vt="http://schemas.openxmlformats.org/officeDocument/2006/docPropsVTypes">1.0.157</vt:lpwstr>
  </op:property>
  <op:property fmtid="{D5CDD505-2E9C-101B-9397-08002B2CF9AE}" pid="3" name="OfficeCLI.LastModified">
    <vt:lpwstr xmlns:vt="http://schemas.openxmlformats.org/officeDocument/2006/docPropsVTypes">2026-10-19T03:46:35Z</vt:lpwstr>
  </op:property>
</op:Properties>
</file>